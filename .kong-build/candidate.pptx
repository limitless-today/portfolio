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80d9c384af44bb" /><Relationship Type="http://schemas.openxmlformats.org/officeDocument/2006/relationships/extended-properties" Target="/docProps/app.xml" Id="Rf2bd8e27c74e46a2" /><Relationship Type="http://schemas.openxmlformats.org/officeDocument/2006/relationships/officeDocument" Target="/ppt/presentation.xml" Id="Re18e216cc48c4699" /></Relationships>
</file>

<file path=ppt/presentation.xml><?xml version="1.0" encoding="utf-8"?>
<p:presentation xmlns:p="http://schemas.openxmlformats.org/presentationml/2006/main">
  <p:sldMasterIdLst>
    <p:sldMasterId xmlns:r="http://schemas.openxmlformats.org/officeDocument/2006/relationships" id="2147483648" r:id="R9fcd02a02a684eb6"/>
  </p:sldMasterIdLst>
  <p:notesMasterIdLst>
    <p:notesMasterId xmlns:r="http://schemas.openxmlformats.org/officeDocument/2006/relationships" r:id="R925da7d502ae4fef"/>
  </p:notesMasterIdLst>
  <p:sldIdLst>
    <p:sldId xmlns:r="http://schemas.openxmlformats.org/officeDocument/2006/relationships" id="256" r:id="Rdf93821876664c38"/>
    <p:sldId xmlns:r="http://schemas.openxmlformats.org/officeDocument/2006/relationships" id="257" r:id="Rbdb051abff3f4c81"/>
    <p:sldId xmlns:r="http://schemas.openxmlformats.org/officeDocument/2006/relationships" id="258" r:id="Rb791731fd54249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48ac7f773149ab" /><Relationship Type="http://schemas.openxmlformats.org/officeDocument/2006/relationships/slideMaster" Target="/ppt/slideMasters/slideMaster1.xml" Id="R9fcd02a02a684eb6" /><Relationship Type="http://schemas.openxmlformats.org/officeDocument/2006/relationships/notesMaster" Target="/ppt/notesMasters/notesMaster1.xml" Id="R925da7d502ae4fef" /><Relationship Type="http://schemas.openxmlformats.org/officeDocument/2006/relationships/presProps" Target="/ppt/presProps.xml" Id="Rad5190c9720746b2" /><Relationship Type="http://schemas.openxmlformats.org/officeDocument/2006/relationships/tableStyles" Target="/ppt/tableStyles.xml" Id="Rc2268c30dfba4908" /><Relationship Type="http://schemas.openxmlformats.org/officeDocument/2006/relationships/slide" Target="/ppt/slides/slide1.xml" Id="Rdf93821876664c38" /><Relationship Type="http://schemas.openxmlformats.org/officeDocument/2006/relationships/slide" Target="/ppt/slides/slide2.xml" Id="Rbdb051abff3f4c81" /><Relationship Type="http://schemas.openxmlformats.org/officeDocument/2006/relationships/slide" Target="/ppt/slides/slide3.xml" Id="Rb791731fd54249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91e618804d42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63b09c127c42ce" /><Relationship Type="http://schemas.openxmlformats.org/officeDocument/2006/relationships/notesMaster" Target="/ppt/notesMasters/notesMaster1.xml" Id="Rf4aae61f875946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61b22e2f474343" /><Relationship Type="http://schemas.openxmlformats.org/officeDocument/2006/relationships/notesMaster" Target="/ppt/notesMasters/notesMaster1.xml" Id="R2c052f76b7df46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8f4994125244d2" /><Relationship Type="http://schemas.openxmlformats.org/officeDocument/2006/relationships/notesMaster" Target="/ppt/notesMasters/notesMaster1.xml" Id="R7fc0fc0e6fab46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planning figures. Annual gateway infrastructure and operations cost is below $100,000. Documentation cost is $35,000, assumed annual and additional to gateway costs. Kong three-year managed TCO is $800,000. 35,000 × 3 = 105,000. Current combined baseline is below 405,000, so incremental cost exceeds 395,000. The $105,000 is already reflected in this comparison and must not be deducted again. Current baseline excludes future AI additions. Catalogue replacement is conditional on scope, migration and actual cost retirement. Confirm full TCO inclusion of migration, integration, transition overlap and retained staff effort.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Managed infrastructure, infrastructure operations and patching scope is supplied by the user and remains subject to the contract. Benefits are qualitative expectations, not measured savings. Spring Cloud Gateway is a gateway framework: the comparison includes the custom engineering and operations around the current implementation. Do not claim that Spring cannot proxy AI traffic. The current implementation lacks the additional AI management capabilities described in the conversation. Kong capability reference: https://developer.konghq.com/ai-gateway/ . Spring reference: https://docs.spring.io/spring-cloud-gateway/reference/index.html . Catalogue entitlement and replacement coverage require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Qualitative business case rather than a quantified ROI claim. User states monetary benefits cannot be reliably quantified. Historical development costs are sunk and cannot be counted as future savings. Existing operations effort already included in the annual baseline must not be counted twice. AI provider consumption costs should use consistent demand assumptions across alternatives. Suggested pilot measurements: application onboarding time, internal operating hours, documentation adoption and coverage of required policies. No measured improvement or payback period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c8c7a590f945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df8740aa4c4de6" /><Relationship Type="http://schemas.openxmlformats.org/officeDocument/2006/relationships/slideLayout" Target="/ppt/slideLayouts/slideLayout1.xml" Id="Rbceb705ab01e45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eb705ab01e45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ad4bc60de4405e" /><Relationship Type="http://schemas.openxmlformats.org/officeDocument/2006/relationships/notesSlide" Target="/ppt/notesSlides/notesSlide1.xml" Id="Rbbb84144be5945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e2baed6d20f43b6" /><Relationship Type="http://schemas.openxmlformats.org/officeDocument/2006/relationships/notesSlide" Target="/ppt/notesSlides/notesSlide2.xml" Id="Re9222b77807b4c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9a6d49ea9b493c" /><Relationship Type="http://schemas.openxmlformats.org/officeDocument/2006/relationships/notesSlide" Target="/ppt/notesSlides/notesSlide3.xml" Id="R97cbc6602aa14579" /></Relationships>
</file>

<file path=ppt/slides/slide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A53725-BA32-48B9-9AD1-941FB6457355}"/>
              </a:ext>
            </a:extLst>
          </p:cNvPr>
          <p:cNvSpPr>
            <a:spLocks xmlns:a="http://schemas.openxmlformats.org/drawingml/2006/main" noGrp="1"/>
          </p:cNvSpPr>
          <p:nvPr/>
        </p:nvSpPr>
        <p:spPr>
          <a:xfrm xmlns:a="http://schemas.openxmlformats.org/drawingml/2006/main">
            <a:off x="571500" y="26670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7E76"/>
                </a:solidFill>
                <a:latin typeface="Helvetica Neue"/>
                <a:ea typeface="Helvetica Neue"/>
                <a:cs typeface="Helvetica Neue"/>
              </a:defRPr>
            </a:pPr>
            <a:r>
              <a:rPr sz="1200" b="1">
                <a:solidFill>
                  <a:srgbClr val="007E76"/>
                </a:solidFill>
                <a:latin typeface="Helvetica Neue"/>
                <a:ea typeface="Helvetica Neue"/>
                <a:cs typeface="Helvetica Neue"/>
              </a:rPr>
              <a:t>KONG API + AI GATEWAY</a:t>
            </a:r>
          </a:p>
        </p:txBody>
      </p:sp>
      <p:sp>
        <p:nvSpPr>
          <p:cNvPr id="2" name="">
            <a:extLst xmlns:a="http://schemas.openxmlformats.org/drawingml/2006/main">
              <a:ext uri="{FF2B5EF4-FFF2-40B4-BE49-F238E27FC236}">
                <a16:creationId xmlns:a16="http://schemas.microsoft.com/office/drawing/2014/main" id="{6B34835A-D1DC-454D-985B-2446408632C5}"/>
              </a:ext>
            </a:extLst>
          </p:cNvPr>
          <p:cNvSpPr>
            <a:spLocks xmlns:a="http://schemas.openxmlformats.org/drawingml/2006/main" noGrp="1"/>
          </p:cNvSpPr>
          <p:nvPr/>
        </p:nvSpPr>
        <p:spPr>
          <a:xfrm xmlns:a="http://schemas.openxmlformats.org/drawingml/2006/main">
            <a:off x="571500" y="733425"/>
            <a:ext cx="11049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02D35"/>
                </a:solidFill>
                <a:latin typeface="Helvetica Neue"/>
                <a:ea typeface="Helvetica Neue"/>
                <a:cs typeface="Helvetica Neue"/>
              </a:defRPr>
            </a:pPr>
            <a:r>
              <a:rPr sz="3150" b="1">
                <a:solidFill>
                  <a:srgbClr val="102D35"/>
                </a:solidFill>
                <a:latin typeface="Helvetica Neue"/>
                <a:ea typeface="Helvetica Neue"/>
                <a:cs typeface="Helvetica Neue"/>
              </a:rPr>
              <a:t>Three-year investment: $800k for managed Kong</a:t>
            </a:r>
          </a:p>
        </p:txBody>
      </p:sp>
      <p:sp>
        <p:nvSpPr>
          <p:cNvPr id="3" name="">
            <a:extLst xmlns:a="http://schemas.openxmlformats.org/drawingml/2006/main">
              <a:ext uri="{FF2B5EF4-FFF2-40B4-BE49-F238E27FC236}">
                <a16:creationId xmlns:a16="http://schemas.microsoft.com/office/drawing/2014/main" id="{77E13DEA-1453-4027-B748-12B52CBCAD5E}"/>
              </a:ext>
            </a:extLst>
          </p:cNvPr>
          <p:cNvSpPr>
            <a:spLocks xmlns:a="http://schemas.openxmlformats.org/drawingml/2006/main" noGrp="1"/>
          </p:cNvSpPr>
          <p:nvPr/>
        </p:nvSpPr>
        <p:spPr>
          <a:xfrm xmlns:a="http://schemas.openxmlformats.org/drawingml/2006/main">
            <a:off x="1114425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C"/>
                </a:solidFill>
                <a:latin typeface="Helvetica Neue"/>
                <a:ea typeface="Helvetica Neue"/>
                <a:cs typeface="Helvetica Neue"/>
              </a:defRPr>
            </a:pPr>
            <a:r>
              <a:rPr sz="1200" b="0">
                <a:solidFill>
                  <a:srgbClr val="52676C"/>
                </a:solidFill>
                <a:latin typeface="Helvetica Neue"/>
                <a:ea typeface="Helvetica Neue"/>
                <a:cs typeface="Helvetica Neue"/>
              </a:rPr>
              <a:t>01</a:t>
            </a:r>
          </a:p>
        </p:txBody>
      </p:sp>
      <p:graphicFrame>
        <p:nvGraphicFramePr>
          <p:cNvPr id="12" name=""/>
          <p:cNvGraphicFramePr/>
          <p:nvPr/>
        </p:nvGraphicFramePr>
        <p:xfrm>
          <a:off xmlns:a="http://schemas.openxmlformats.org/drawingml/2006/main" x="571500" y="1905000"/>
          <a:ext xmlns:a="http://schemas.openxmlformats.org/drawingml/2006/main" cx="7334250" cy="3257550"/>
        </p:xfrm>
        <a:graphic xmlns:a="http://schemas.openxmlformats.org/drawingml/2006/main">
          <a:graphicData uri="http://schemas.openxmlformats.org/drawingml/2006/table">
            <a:tbl>
              <a:tblPr/>
              <a:tblGrid>
                <a:gridCol w="5524500"/>
                <a:gridCol w="1809750"/>
              </a:tblGrid>
              <a:tr h="542925">
                <a:tc>
                  <a:txBody>
                    <a:bodyPr/>
                    <a:lstStyle/>
                    <a:p>
                      <a:r>
                        <a:rPr sz="1725" b="1">
                          <a:solidFill>
                            <a:srgbClr val="FFFFFF"/>
                          </a:solidFill>
                          <a:latin typeface="Helvetica Neue"/>
                          <a:ea typeface="Helvetica Neue"/>
                          <a:cs typeface="Helvetica Neue"/>
                        </a:rPr>
                        <a:t>Cost comparison</a:t>
                      </a:r>
                    </a:p>
                  </a:txBody>
                  <a:tcPr marL="91440" marR="91440" marT="45720" marB="45720">
                    <a:solidFill>
                      <a:srgbClr val="102D35"/>
                    </a:solidFill>
                  </a:tcPr>
                </a:tc>
                <a:tc>
                  <a:txBody>
                    <a:bodyPr/>
                    <a:lstStyle/>
                    <a:p>
                      <a:r>
                        <a:rPr sz="1725" b="1">
                          <a:solidFill>
                            <a:srgbClr val="FFFFFF"/>
                          </a:solidFill>
                          <a:latin typeface="Helvetica Neue"/>
                          <a:ea typeface="Helvetica Neue"/>
                          <a:cs typeface="Helvetica Neue"/>
                        </a:rPr>
                        <a:t>Three years</a:t>
                      </a:r>
                    </a:p>
                  </a:txBody>
                  <a:tcPr marL="91440" marR="91440" marT="45720" marB="45720">
                    <a:solidFill>
                      <a:srgbClr val="102D35"/>
                    </a:solidFill>
                  </a:tcPr>
                </a:tc>
              </a:tr>
              <a:tr h="542925">
                <a:tc>
                  <a:txBody>
                    <a:bodyPr/>
                    <a:lstStyle/>
                    <a:p>
                      <a:r>
                        <a:rPr sz="1725" b="0">
                          <a:solidFill>
                            <a:srgbClr val="102D35"/>
                          </a:solidFill>
                          <a:latin typeface="Helvetica Neue"/>
                          <a:ea typeface="Helvetica Neue"/>
                          <a:cs typeface="Helvetica Neue"/>
                        </a:rPr>
                        <a:t>Existing gateway infrastructure + operations</a:t>
                      </a:r>
                    </a:p>
                  </a:txBody>
                  <a:tcPr marL="91440" marR="91440" marT="45720" marB="45720">
                    <a:solidFill>
                      <a:srgbClr val="FFFFFF"/>
                    </a:solidFill>
                  </a:tcPr>
                </a:tc>
                <a:tc>
                  <a:txBody>
                    <a:bodyPr/>
                    <a:lstStyle/>
                    <a:p>
                      <a:r>
                        <a:rPr sz="1725" b="0">
                          <a:solidFill>
                            <a:srgbClr val="102D35"/>
                          </a:solidFill>
                          <a:latin typeface="Helvetica Neue"/>
                          <a:ea typeface="Helvetica Neue"/>
                          <a:cs typeface="Helvetica Neue"/>
                        </a:rPr>
                        <a:t>&lt; $300k</a:t>
                      </a:r>
                    </a:p>
                  </a:txBody>
                  <a:tcPr marL="91440" marR="91440" marT="45720" marB="45720">
                    <a:solidFill>
                      <a:srgbClr val="FFFFFF"/>
                    </a:solidFill>
                  </a:tcPr>
                </a:tc>
              </a:tr>
              <a:tr h="542925">
                <a:tc>
                  <a:txBody>
                    <a:bodyPr/>
                    <a:lstStyle/>
                    <a:p>
                      <a:r>
                        <a:rPr sz="1725" b="0">
                          <a:solidFill>
                            <a:srgbClr val="102D35"/>
                          </a:solidFill>
                          <a:latin typeface="Helvetica Neue"/>
                          <a:ea typeface="Helvetica Neue"/>
                          <a:cs typeface="Helvetica Neue"/>
                        </a:rPr>
                        <a:t>Existing documentation solution</a:t>
                      </a:r>
                    </a:p>
                  </a:txBody>
                  <a:tcPr marL="91440" marR="91440" marT="45720" marB="45720">
                    <a:solidFill>
                      <a:srgbClr val="FFFFFF"/>
                    </a:solidFill>
                  </a:tcPr>
                </a:tc>
                <a:tc>
                  <a:txBody>
                    <a:bodyPr/>
                    <a:lstStyle/>
                    <a:p>
                      <a:r>
                        <a:rPr sz="1725" b="0">
                          <a:solidFill>
                            <a:srgbClr val="102D35"/>
                          </a:solidFill>
                          <a:latin typeface="Helvetica Neue"/>
                          <a:ea typeface="Helvetica Neue"/>
                          <a:cs typeface="Helvetica Neue"/>
                        </a:rPr>
                        <a:t>$105k</a:t>
                      </a:r>
                    </a:p>
                  </a:txBody>
                  <a:tcPr marL="91440" marR="91440" marT="45720" marB="45720">
                    <a:solidFill>
                      <a:srgbClr val="FFFFFF"/>
                    </a:solidFill>
                  </a:tcPr>
                </a:tc>
              </a:tr>
              <a:tr h="542925">
                <a:tc>
                  <a:txBody>
                    <a:bodyPr/>
                    <a:lstStyle/>
                    <a:p>
                      <a:r>
                        <a:rPr sz="1725" b="0">
                          <a:solidFill>
                            <a:srgbClr val="102D35"/>
                          </a:solidFill>
                          <a:latin typeface="Helvetica Neue"/>
                          <a:ea typeface="Helvetica Neue"/>
                          <a:cs typeface="Helvetica Neue"/>
                        </a:rPr>
                        <a:t>Combined current baseline</a:t>
                      </a:r>
                    </a:p>
                  </a:txBody>
                  <a:tcPr marL="91440" marR="91440" marT="45720" marB="45720">
                    <a:solidFill>
                      <a:srgbClr val="FFFFFF"/>
                    </a:solidFill>
                  </a:tcPr>
                </a:tc>
                <a:tc>
                  <a:txBody>
                    <a:bodyPr/>
                    <a:lstStyle/>
                    <a:p>
                      <a:r>
                        <a:rPr sz="1725" b="0">
                          <a:solidFill>
                            <a:srgbClr val="102D35"/>
                          </a:solidFill>
                          <a:latin typeface="Helvetica Neue"/>
                          <a:ea typeface="Helvetica Neue"/>
                          <a:cs typeface="Helvetica Neue"/>
                        </a:rPr>
                        <a:t>&lt; $405k</a:t>
                      </a:r>
                    </a:p>
                  </a:txBody>
                  <a:tcPr marL="91440" marR="91440" marT="45720" marB="45720">
                    <a:solidFill>
                      <a:srgbClr val="FFFFFF"/>
                    </a:solidFill>
                  </a:tcPr>
                </a:tc>
              </a:tr>
              <a:tr h="542925">
                <a:tc>
                  <a:txBody>
                    <a:bodyPr/>
                    <a:lstStyle/>
                    <a:p>
                      <a:r>
                        <a:rPr sz="1725" b="0">
                          <a:solidFill>
                            <a:srgbClr val="102D35"/>
                          </a:solidFill>
                          <a:latin typeface="Helvetica Neue"/>
                          <a:ea typeface="Helvetica Neue"/>
                          <a:cs typeface="Helvetica Neue"/>
                        </a:rPr>
                        <a:t>Managed Kong API + AI platform</a:t>
                      </a:r>
                    </a:p>
                  </a:txBody>
                  <a:tcPr marL="91440" marR="91440" marT="45720" marB="45720">
                    <a:solidFill>
                      <a:srgbClr val="FFFFFF"/>
                    </a:solidFill>
                  </a:tcPr>
                </a:tc>
                <a:tc>
                  <a:txBody>
                    <a:bodyPr/>
                    <a:lstStyle/>
                    <a:p>
                      <a:r>
                        <a:rPr sz="1725" b="0">
                          <a:solidFill>
                            <a:srgbClr val="102D35"/>
                          </a:solidFill>
                          <a:latin typeface="Helvetica Neue"/>
                          <a:ea typeface="Helvetica Neue"/>
                          <a:cs typeface="Helvetica Neue"/>
                        </a:rPr>
                        <a:t>$800k</a:t>
                      </a:r>
                    </a:p>
                  </a:txBody>
                  <a:tcPr marL="91440" marR="91440" marT="45720" marB="45720">
                    <a:solidFill>
                      <a:srgbClr val="FFFFFF"/>
                    </a:solidFill>
                  </a:tcPr>
                </a:tc>
              </a:tr>
              <a:tr h="542925">
                <a:tc>
                  <a:txBody>
                    <a:bodyPr/>
                    <a:lstStyle/>
                    <a:p>
                      <a:r>
                        <a:rPr sz="1725" b="1">
                          <a:solidFill>
                            <a:srgbClr val="102D35"/>
                          </a:solidFill>
                          <a:latin typeface="Helvetica Neue"/>
                          <a:ea typeface="Helvetica Neue"/>
                          <a:cs typeface="Helvetica Neue"/>
                        </a:rPr>
                        <a:t>Additional investment</a:t>
                      </a:r>
                    </a:p>
                  </a:txBody>
                  <a:tcPr marL="91440" marR="91440" marT="45720" marB="45720">
                    <a:solidFill>
                      <a:srgbClr val="DDEEE9"/>
                    </a:solidFill>
                  </a:tcPr>
                </a:tc>
                <a:tc>
                  <a:txBody>
                    <a:bodyPr/>
                    <a:lstStyle/>
                    <a:p>
                      <a:r>
                        <a:rPr sz="1725" b="1">
                          <a:solidFill>
                            <a:srgbClr val="102D35"/>
                          </a:solidFill>
                          <a:latin typeface="Helvetica Neue"/>
                          <a:ea typeface="Helvetica Neue"/>
                          <a:cs typeface="Helvetica Neue"/>
                        </a:rPr>
                        <a:t>&gt; $395k</a:t>
                      </a:r>
                    </a:p>
                  </a:txBody>
                  <a:tcPr marL="91440" marR="91440" marT="45720" marB="45720">
                    <a:solidFill>
                      <a:srgbClr val="DDEEE9"/>
                    </a:solidFill>
                  </a:tcPr>
                </a:tc>
              </a:tr>
            </a:tbl>
          </a:graphicData>
        </a:graphic>
      </p:graphicFrame>
      <p:sp>
        <p:nvSpPr>
          <p:cNvPr id="5" name="">
            <a:extLst xmlns:a="http://schemas.openxmlformats.org/drawingml/2006/main">
              <a:ext uri="{FF2B5EF4-FFF2-40B4-BE49-F238E27FC236}">
                <a16:creationId xmlns:a16="http://schemas.microsoft.com/office/drawing/2014/main" id="{F30AF4FE-3CEF-4E23-A198-3A443FFDE12F}"/>
              </a:ext>
            </a:extLst>
          </p:cNvPr>
          <p:cNvSpPr>
            <a:spLocks xmlns:a="http://schemas.openxmlformats.org/drawingml/2006/main" noGrp="1"/>
          </p:cNvSpPr>
          <p:nvPr/>
        </p:nvSpPr>
        <p:spPr>
          <a:xfrm xmlns:a="http://schemas.openxmlformats.org/drawingml/2006/main">
            <a:off x="8477250" y="2028825"/>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E76"/>
                </a:solidFill>
                <a:latin typeface="Helvetica Neue"/>
                <a:ea typeface="Helvetica Neue"/>
                <a:cs typeface="Helvetica Neue"/>
              </a:defRPr>
            </a:pPr>
            <a:r>
              <a:rPr sz="4650" b="1">
                <a:solidFill>
                  <a:srgbClr val="007E76"/>
                </a:solidFill>
                <a:latin typeface="Helvetica Neue"/>
                <a:ea typeface="Helvetica Neue"/>
                <a:cs typeface="Helvetica Neue"/>
              </a:rPr>
              <a:t>$105k</a:t>
            </a:r>
          </a:p>
        </p:txBody>
      </p:sp>
      <p:sp>
        <p:nvSpPr>
          <p:cNvPr id="6" name="">
            <a:extLst xmlns:a="http://schemas.openxmlformats.org/drawingml/2006/main">
              <a:ext uri="{FF2B5EF4-FFF2-40B4-BE49-F238E27FC236}">
                <a16:creationId xmlns:a16="http://schemas.microsoft.com/office/drawing/2014/main" id="{7E5E08FF-AE2A-4045-8FF1-0A00E996AA6A}"/>
              </a:ext>
            </a:extLst>
          </p:cNvPr>
          <p:cNvSpPr>
            <a:spLocks xmlns:a="http://schemas.openxmlformats.org/drawingml/2006/main" noGrp="1"/>
          </p:cNvSpPr>
          <p:nvPr/>
        </p:nvSpPr>
        <p:spPr>
          <a:xfrm xmlns:a="http://schemas.openxmlformats.org/drawingml/2006/main">
            <a:off x="8477250" y="2847975"/>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02D35"/>
                </a:solidFill>
                <a:latin typeface="Helvetica Neue"/>
                <a:ea typeface="Helvetica Neue"/>
                <a:cs typeface="Helvetica Neue"/>
              </a:defRPr>
            </a:pPr>
            <a:r>
              <a:rPr sz="1950" b="1">
                <a:solidFill>
                  <a:srgbClr val="102D35"/>
                </a:solidFill>
                <a:latin typeface="Helvetica Neue"/>
                <a:ea typeface="Helvetica Neue"/>
                <a:cs typeface="Helvetica Neue"/>
              </a:rPr>
              <a:t>Potential documentation</a:t>
            </a:r>
          </a:p>
          <a:p xmlns:a="http://schemas.openxmlformats.org/drawingml/2006/main">
            <a:pPr>
              <a:defRPr sz="1950" b="1">
                <a:solidFill>
                  <a:srgbClr val="102D35"/>
                </a:solidFill>
                <a:latin typeface="Helvetica Neue"/>
                <a:ea typeface="Helvetica Neue"/>
                <a:cs typeface="Helvetica Neue"/>
              </a:defRPr>
            </a:pPr>
            <a:r>
              <a:rPr sz="1950" b="1">
                <a:solidFill>
                  <a:srgbClr val="102D35"/>
                </a:solidFill>
                <a:latin typeface="Helvetica Neue"/>
                <a:ea typeface="Helvetica Neue"/>
                <a:cs typeface="Helvetica Neue"/>
              </a:rPr>
              <a:t>cost retirement over 3 years</a:t>
            </a:r>
          </a:p>
        </p:txBody>
      </p:sp>
      <p:sp>
        <p:nvSpPr>
          <p:cNvPr id="7" name="">
            <a:extLst xmlns:a="http://schemas.openxmlformats.org/drawingml/2006/main">
              <a:ext uri="{FF2B5EF4-FFF2-40B4-BE49-F238E27FC236}">
                <a16:creationId xmlns:a16="http://schemas.microsoft.com/office/drawing/2014/main" id="{30ADF495-B480-47C4-84E2-A8A12F4894A6}"/>
              </a:ext>
            </a:extLst>
          </p:cNvPr>
          <p:cNvSpPr>
            <a:spLocks xmlns:a="http://schemas.openxmlformats.org/drawingml/2006/main" noGrp="1"/>
          </p:cNvSpPr>
          <p:nvPr/>
        </p:nvSpPr>
        <p:spPr>
          <a:xfrm xmlns:a="http://schemas.openxmlformats.org/drawingml/2006/main">
            <a:off x="8477250" y="4000500"/>
            <a:ext cx="304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6C"/>
                </a:solidFill>
                <a:latin typeface="Helvetica Neue"/>
                <a:ea typeface="Helvetica Neue"/>
                <a:cs typeface="Helvetica Neue"/>
              </a:defRPr>
            </a:pPr>
            <a:r>
              <a:rPr sz="1875" b="0">
                <a:solidFill>
                  <a:srgbClr val="52676C"/>
                </a:solidFill>
                <a:latin typeface="Helvetica Neue"/>
                <a:ea typeface="Helvetica Neue"/>
                <a:cs typeface="Helvetica Neue"/>
              </a:rPr>
              <a:t>The remaining premium funds managed operations and additional API + AI capabilities.</a:t>
            </a:r>
          </a:p>
        </p:txBody>
      </p:sp>
      <p:sp>
        <p:nvSpPr>
          <p:cNvPr id="8" name="">
            <a:extLst xmlns:a="http://schemas.openxmlformats.org/drawingml/2006/main">
              <a:ext uri="{FF2B5EF4-FFF2-40B4-BE49-F238E27FC236}">
                <a16:creationId xmlns:a16="http://schemas.microsoft.com/office/drawing/2014/main" id="{F0F48622-E17E-4057-8320-92BA680D37A6}"/>
              </a:ext>
            </a:extLst>
          </p:cNvPr>
          <p:cNvSpPr>
            <a:spLocks xmlns:a="http://schemas.openxmlformats.org/drawingml/2006/main" noGrp="1"/>
          </p:cNvSpPr>
          <p:nvPr/>
        </p:nvSpPr>
        <p:spPr>
          <a:xfrm xmlns:a="http://schemas.openxmlformats.org/drawingml/2006/main">
            <a:off x="571500" y="562927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6C"/>
                </a:solidFill>
                <a:latin typeface="Helvetica Neue"/>
                <a:ea typeface="Helvetica Neue"/>
                <a:cs typeface="Helvetica Neue"/>
              </a:defRPr>
            </a:pPr>
            <a:r>
              <a:rPr sz="1350" b="0">
                <a:solidFill>
                  <a:srgbClr val="52676C"/>
                </a:solidFill>
                <a:latin typeface="Helvetica Neue"/>
                <a:ea typeface="Helvetica Neue"/>
                <a:cs typeface="Helvetica Neue"/>
              </a:rPr>
              <a:t>Assumptions: $35k documentation cost is annual and separate from the &lt; $100k gateway baseline. Flat run rate. Full retirement starts in Year 1. Confirm $800k includes transition and retained internal costs.</a:t>
            </a:r>
          </a:p>
        </p:txBody>
      </p:sp>
    </p:spTree>
    <p:extLst>
      <p:ext uri="{BB962C8B-B14F-4D97-AF65-F5344CB8AC3E}">
        <p14:creationId xmlns:p14="http://schemas.microsoft.com/office/powerpoint/2010/main" val="35578528"/>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C7772B-B48B-43EA-A7FE-CEE06D584C58}"/>
              </a:ext>
            </a:extLst>
          </p:cNvPr>
          <p:cNvSpPr>
            <a:spLocks xmlns:a="http://schemas.openxmlformats.org/drawingml/2006/main" noGrp="1"/>
          </p:cNvSpPr>
          <p:nvPr/>
        </p:nvSpPr>
        <p:spPr>
          <a:xfrm xmlns:a="http://schemas.openxmlformats.org/drawingml/2006/main">
            <a:off x="571500" y="26670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7E76"/>
                </a:solidFill>
                <a:latin typeface="Helvetica Neue"/>
                <a:ea typeface="Helvetica Neue"/>
                <a:cs typeface="Helvetica Neue"/>
              </a:defRPr>
            </a:pPr>
            <a:r>
              <a:rPr sz="1200" b="1">
                <a:solidFill>
                  <a:srgbClr val="007E76"/>
                </a:solidFill>
                <a:latin typeface="Helvetica Neue"/>
                <a:ea typeface="Helvetica Neue"/>
                <a:cs typeface="Helvetica Neue"/>
              </a:rPr>
              <a:t>KONG API + AI GATEWAY</a:t>
            </a:r>
          </a:p>
        </p:txBody>
      </p:sp>
      <p:sp>
        <p:nvSpPr>
          <p:cNvPr id="2" name="">
            <a:extLst xmlns:a="http://schemas.openxmlformats.org/drawingml/2006/main">
              <a:ext uri="{FF2B5EF4-FFF2-40B4-BE49-F238E27FC236}">
                <a16:creationId xmlns:a16="http://schemas.microsoft.com/office/drawing/2014/main" id="{1FC2C05D-5B5F-4D88-ABDF-1E00F53A2985}"/>
              </a:ext>
            </a:extLst>
          </p:cNvPr>
          <p:cNvSpPr>
            <a:spLocks xmlns:a="http://schemas.openxmlformats.org/drawingml/2006/main" noGrp="1"/>
          </p:cNvSpPr>
          <p:nvPr/>
        </p:nvSpPr>
        <p:spPr>
          <a:xfrm xmlns:a="http://schemas.openxmlformats.org/drawingml/2006/main">
            <a:off x="571500" y="733425"/>
            <a:ext cx="11049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02D35"/>
                </a:solidFill>
                <a:latin typeface="Helvetica Neue"/>
                <a:ea typeface="Helvetica Neue"/>
                <a:cs typeface="Helvetica Neue"/>
              </a:defRPr>
            </a:pPr>
            <a:r>
              <a:rPr sz="3150" b="1">
                <a:solidFill>
                  <a:srgbClr val="102D35"/>
                </a:solidFill>
                <a:latin typeface="Helvetica Neue"/>
                <a:ea typeface="Helvetica Neue"/>
                <a:cs typeface="Helvetica Neue"/>
              </a:rPr>
              <a:t>Managed operations and additional platform capabilities</a:t>
            </a:r>
          </a:p>
        </p:txBody>
      </p:sp>
      <p:sp>
        <p:nvSpPr>
          <p:cNvPr id="3" name="">
            <a:extLst xmlns:a="http://schemas.openxmlformats.org/drawingml/2006/main">
              <a:ext uri="{FF2B5EF4-FFF2-40B4-BE49-F238E27FC236}">
                <a16:creationId xmlns:a16="http://schemas.microsoft.com/office/drawing/2014/main" id="{55F0DE38-0CCB-4E78-99A8-1359B4C2FD17}"/>
              </a:ext>
            </a:extLst>
          </p:cNvPr>
          <p:cNvSpPr>
            <a:spLocks xmlns:a="http://schemas.openxmlformats.org/drawingml/2006/main" noGrp="1"/>
          </p:cNvSpPr>
          <p:nvPr/>
        </p:nvSpPr>
        <p:spPr>
          <a:xfrm xmlns:a="http://schemas.openxmlformats.org/drawingml/2006/main">
            <a:off x="1114425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C"/>
                </a:solidFill>
                <a:latin typeface="Helvetica Neue"/>
                <a:ea typeface="Helvetica Neue"/>
                <a:cs typeface="Helvetica Neue"/>
              </a:defRPr>
            </a:pPr>
            <a:r>
              <a:rPr sz="1200" b="0">
                <a:solidFill>
                  <a:srgbClr val="52676C"/>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E53A6567-FCF4-4F80-A912-9AFA5609BC7D}"/>
              </a:ext>
            </a:extLst>
          </p:cNvPr>
          <p:cNvSpPr>
            <a:spLocks xmlns:a="http://schemas.openxmlformats.org/drawingml/2006/main" noGrp="1"/>
          </p:cNvSpPr>
          <p:nvPr/>
        </p:nvSpPr>
        <p:spPr>
          <a:xfrm xmlns:a="http://schemas.openxmlformats.org/drawingml/2006/main">
            <a:off x="571500" y="197167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E76"/>
                </a:solidFill>
                <a:latin typeface="Helvetica Neue"/>
                <a:ea typeface="Helvetica Neue"/>
                <a:cs typeface="Helvetica Neue"/>
              </a:defRPr>
            </a:pPr>
            <a:r>
              <a:rPr sz="2025" b="1">
                <a:solidFill>
                  <a:srgbClr val="007E76"/>
                </a:solidFill>
                <a:latin typeface="Helvetica Neue"/>
                <a:ea typeface="Helvetica Neue"/>
                <a:cs typeface="Helvetica Neue"/>
              </a:rPr>
              <a:t>Managed infrastructure</a:t>
            </a:r>
          </a:p>
        </p:txBody>
      </p:sp>
      <p:sp>
        <p:nvSpPr>
          <p:cNvPr id="5" name="">
            <a:extLst xmlns:a="http://schemas.openxmlformats.org/drawingml/2006/main">
              <a:ext uri="{FF2B5EF4-FFF2-40B4-BE49-F238E27FC236}">
                <a16:creationId xmlns:a16="http://schemas.microsoft.com/office/drawing/2014/main" id="{325B4AD1-9DAD-43C6-BDAA-1F7E0BF0F831}"/>
              </a:ext>
            </a:extLst>
          </p:cNvPr>
          <p:cNvSpPr>
            <a:spLocks xmlns:a="http://schemas.openxmlformats.org/drawingml/2006/main" noGrp="1"/>
          </p:cNvSpPr>
          <p:nvPr/>
        </p:nvSpPr>
        <p:spPr>
          <a:xfrm xmlns:a="http://schemas.openxmlformats.org/drawingml/2006/main">
            <a:off x="4048125" y="1971675"/>
            <a:ext cx="7429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D35"/>
                </a:solidFill>
                <a:latin typeface="Helvetica Neue"/>
                <a:ea typeface="Helvetica Neue"/>
                <a:cs typeface="Helvetica Neue"/>
              </a:defRPr>
            </a:pPr>
            <a:r>
              <a:rPr sz="1950" b="0">
                <a:solidFill>
                  <a:srgbClr val="102D35"/>
                </a:solidFill>
                <a:latin typeface="Helvetica Neue"/>
                <a:ea typeface="Helvetica Neue"/>
                <a:cs typeface="Helvetica Neue"/>
              </a:rPr>
              <a:t>Kong handles infrastructure operations and patching within the contracted scope. Internal teams retain application integration and policy ownership.</a:t>
            </a:r>
          </a:p>
        </p:txBody>
      </p:sp>
      <p:sp>
        <p:nvSpPr>
          <p:cNvPr id="6" name="">
            <a:extLst xmlns:a="http://schemas.openxmlformats.org/drawingml/2006/main">
              <a:ext uri="{FF2B5EF4-FFF2-40B4-BE49-F238E27FC236}">
                <a16:creationId xmlns:a16="http://schemas.microsoft.com/office/drawing/2014/main" id="{8BEC8754-BD91-41EA-93B9-1A6E09301F2A}"/>
              </a:ext>
            </a:extLst>
          </p:cNvPr>
          <p:cNvSpPr>
            <a:spLocks xmlns:a="http://schemas.openxmlformats.org/drawingml/2006/main" noGrp="1"/>
          </p:cNvSpPr>
          <p:nvPr/>
        </p:nvSpPr>
        <p:spPr>
          <a:xfrm xmlns:a="http://schemas.openxmlformats.org/drawingml/2006/main">
            <a:off x="571500" y="2933700"/>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E76"/>
                </a:solidFill>
                <a:latin typeface="Helvetica Neue"/>
                <a:ea typeface="Helvetica Neue"/>
                <a:cs typeface="Helvetica Neue"/>
              </a:defRPr>
            </a:pPr>
            <a:r>
              <a:rPr sz="2025" b="1">
                <a:solidFill>
                  <a:srgbClr val="007E76"/>
                </a:solidFill>
                <a:latin typeface="Helvetica Neue"/>
                <a:ea typeface="Helvetica Neue"/>
                <a:cs typeface="Helvetica Neue"/>
              </a:rPr>
              <a:t>Less custom platform work</a:t>
            </a:r>
          </a:p>
        </p:txBody>
      </p:sp>
      <p:sp>
        <p:nvSpPr>
          <p:cNvPr id="7" name="">
            <a:extLst xmlns:a="http://schemas.openxmlformats.org/drawingml/2006/main">
              <a:ext uri="{FF2B5EF4-FFF2-40B4-BE49-F238E27FC236}">
                <a16:creationId xmlns:a16="http://schemas.microsoft.com/office/drawing/2014/main" id="{38CB1F50-3A9F-4012-AEE9-D6EA49732444}"/>
              </a:ext>
            </a:extLst>
          </p:cNvPr>
          <p:cNvSpPr>
            <a:spLocks xmlns:a="http://schemas.openxmlformats.org/drawingml/2006/main" noGrp="1"/>
          </p:cNvSpPr>
          <p:nvPr/>
        </p:nvSpPr>
        <p:spPr>
          <a:xfrm xmlns:a="http://schemas.openxmlformats.org/drawingml/2006/main">
            <a:off x="4048125" y="2933700"/>
            <a:ext cx="7429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D35"/>
                </a:solidFill>
                <a:latin typeface="Helvetica Neue"/>
                <a:ea typeface="Helvetica Neue"/>
                <a:cs typeface="Helvetica Neue"/>
              </a:defRPr>
            </a:pPr>
            <a:r>
              <a:rPr sz="1950" b="0">
                <a:solidFill>
                  <a:srgbClr val="102D35"/>
                </a:solidFill>
                <a:latin typeface="Helvetica Neue"/>
                <a:ea typeface="Helvetica Neue"/>
                <a:cs typeface="Helvetica Neue"/>
              </a:rPr>
              <a:t>Reduce future maintenance and development where Kong replaces capabilities built around Spring Cloud Gateway.</a:t>
            </a:r>
          </a:p>
        </p:txBody>
      </p:sp>
      <p:sp>
        <p:nvSpPr>
          <p:cNvPr id="8" name="">
            <a:extLst xmlns:a="http://schemas.openxmlformats.org/drawingml/2006/main">
              <a:ext uri="{FF2B5EF4-FFF2-40B4-BE49-F238E27FC236}">
                <a16:creationId xmlns:a16="http://schemas.microsoft.com/office/drawing/2014/main" id="{39072B71-6748-47A2-9BF6-44362D9BD3B8}"/>
              </a:ext>
            </a:extLst>
          </p:cNvPr>
          <p:cNvSpPr>
            <a:spLocks xmlns:a="http://schemas.openxmlformats.org/drawingml/2006/main" noGrp="1"/>
          </p:cNvSpPr>
          <p:nvPr/>
        </p:nvSpPr>
        <p:spPr>
          <a:xfrm xmlns:a="http://schemas.openxmlformats.org/drawingml/2006/main">
            <a:off x="571500" y="389572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E76"/>
                </a:solidFill>
                <a:latin typeface="Helvetica Neue"/>
                <a:ea typeface="Helvetica Neue"/>
                <a:cs typeface="Helvetica Neue"/>
              </a:defRPr>
            </a:pPr>
            <a:r>
              <a:rPr sz="2025" b="1">
                <a:solidFill>
                  <a:srgbClr val="007E76"/>
                </a:solidFill>
                <a:latin typeface="Helvetica Neue"/>
                <a:ea typeface="Helvetica Neue"/>
                <a:cs typeface="Helvetica Neue"/>
              </a:rPr>
              <a:t>Additional AI gateway</a:t>
            </a:r>
          </a:p>
        </p:txBody>
      </p:sp>
      <p:sp>
        <p:nvSpPr>
          <p:cNvPr id="9" name="">
            <a:extLst xmlns:a="http://schemas.openxmlformats.org/drawingml/2006/main">
              <a:ext uri="{FF2B5EF4-FFF2-40B4-BE49-F238E27FC236}">
                <a16:creationId xmlns:a16="http://schemas.microsoft.com/office/drawing/2014/main" id="{51A394B6-69C3-4BEB-BDF9-8D408B3FB1DB}"/>
              </a:ext>
            </a:extLst>
          </p:cNvPr>
          <p:cNvSpPr>
            <a:spLocks xmlns:a="http://schemas.openxmlformats.org/drawingml/2006/main" noGrp="1"/>
          </p:cNvSpPr>
          <p:nvPr/>
        </p:nvSpPr>
        <p:spPr>
          <a:xfrm xmlns:a="http://schemas.openxmlformats.org/drawingml/2006/main">
            <a:off x="4048125" y="3895725"/>
            <a:ext cx="7429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D35"/>
                </a:solidFill>
                <a:latin typeface="Helvetica Neue"/>
                <a:ea typeface="Helvetica Neue"/>
                <a:cs typeface="Helvetica Neue"/>
              </a:defRPr>
            </a:pPr>
            <a:r>
              <a:rPr sz="1950" b="0">
                <a:solidFill>
                  <a:srgbClr val="102D35"/>
                </a:solidFill>
                <a:latin typeface="Helvetica Neue"/>
                <a:ea typeface="Helvetica Neue"/>
                <a:cs typeface="Helvetica Neue"/>
              </a:rPr>
              <a:t>Provide shared AI access and consumption controls, with usage visibility for planned AI applications. Confirm feature entitlement.</a:t>
            </a:r>
          </a:p>
        </p:txBody>
      </p:sp>
      <p:sp>
        <p:nvSpPr>
          <p:cNvPr id="10" name="">
            <a:extLst xmlns:a="http://schemas.openxmlformats.org/drawingml/2006/main">
              <a:ext uri="{FF2B5EF4-FFF2-40B4-BE49-F238E27FC236}">
                <a16:creationId xmlns:a16="http://schemas.microsoft.com/office/drawing/2014/main" id="{9F342DCC-F1A2-4984-8CB1-453A76C4D86F}"/>
              </a:ext>
            </a:extLst>
          </p:cNvPr>
          <p:cNvSpPr>
            <a:spLocks xmlns:a="http://schemas.openxmlformats.org/drawingml/2006/main" noGrp="1"/>
          </p:cNvSpPr>
          <p:nvPr/>
        </p:nvSpPr>
        <p:spPr>
          <a:xfrm xmlns:a="http://schemas.openxmlformats.org/drawingml/2006/main">
            <a:off x="571500" y="4857750"/>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E76"/>
                </a:solidFill>
                <a:latin typeface="Helvetica Neue"/>
                <a:ea typeface="Helvetica Neue"/>
                <a:cs typeface="Helvetica Neue"/>
              </a:defRPr>
            </a:pPr>
            <a:r>
              <a:rPr sz="2025" b="1">
                <a:solidFill>
                  <a:srgbClr val="007E76"/>
                </a:solidFill>
                <a:latin typeface="Helvetica Neue"/>
                <a:ea typeface="Helvetica Neue"/>
                <a:cs typeface="Helvetica Neue"/>
              </a:rPr>
              <a:t>API catalogue</a:t>
            </a:r>
          </a:p>
        </p:txBody>
      </p:sp>
      <p:sp>
        <p:nvSpPr>
          <p:cNvPr id="11" name="">
            <a:extLst xmlns:a="http://schemas.openxmlformats.org/drawingml/2006/main">
              <a:ext uri="{FF2B5EF4-FFF2-40B4-BE49-F238E27FC236}">
                <a16:creationId xmlns:a16="http://schemas.microsoft.com/office/drawing/2014/main" id="{E4D72D5F-E50F-4793-AB72-4DB40D8A6E94}"/>
              </a:ext>
            </a:extLst>
          </p:cNvPr>
          <p:cNvSpPr>
            <a:spLocks xmlns:a="http://schemas.openxmlformats.org/drawingml/2006/main" noGrp="1"/>
          </p:cNvSpPr>
          <p:nvPr/>
        </p:nvSpPr>
        <p:spPr>
          <a:xfrm xmlns:a="http://schemas.openxmlformats.org/drawingml/2006/main">
            <a:off x="4048125" y="4857750"/>
            <a:ext cx="7429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D35"/>
                </a:solidFill>
                <a:latin typeface="Helvetica Neue"/>
                <a:ea typeface="Helvetica Neue"/>
                <a:cs typeface="Helvetica Neue"/>
              </a:defRPr>
            </a:pPr>
            <a:r>
              <a:rPr sz="1950" b="0">
                <a:solidFill>
                  <a:srgbClr val="102D35"/>
                </a:solidFill>
                <a:latin typeface="Helvetica Neue"/>
                <a:ea typeface="Helvetica Neue"/>
                <a:cs typeface="Helvetica Neue"/>
              </a:rPr>
              <a:t>Replace the documentation solution and improve API discovery, ownership visibility and reuse.</a:t>
            </a:r>
          </a:p>
        </p:txBody>
      </p:sp>
      <p:sp>
        <p:nvSpPr>
          <p:cNvPr id="12" name="">
            <a:extLst xmlns:a="http://schemas.openxmlformats.org/drawingml/2006/main">
              <a:ext uri="{FF2B5EF4-FFF2-40B4-BE49-F238E27FC236}">
                <a16:creationId xmlns:a16="http://schemas.microsoft.com/office/drawing/2014/main" id="{91A479C3-0C63-4E02-8068-7445E66E2B6E}"/>
              </a:ext>
            </a:extLst>
          </p:cNvPr>
          <p:cNvSpPr>
            <a:spLocks xmlns:a="http://schemas.openxmlformats.org/drawingml/2006/main" noGrp="1"/>
          </p:cNvSpPr>
          <p:nvPr/>
        </p:nvSpPr>
        <p:spPr>
          <a:xfrm xmlns:a="http://schemas.openxmlformats.org/drawingml/2006/main">
            <a:off x="571500" y="60007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6C"/>
                </a:solidFill>
                <a:latin typeface="Helvetica Neue"/>
                <a:ea typeface="Helvetica Neue"/>
                <a:cs typeface="Helvetica Neue"/>
              </a:defRPr>
            </a:pPr>
            <a:r>
              <a:rPr sz="1575" b="0">
                <a:solidFill>
                  <a:srgbClr val="52676C"/>
                </a:solidFill>
                <a:latin typeface="Helvetica Neue"/>
                <a:ea typeface="Helvetica Neue"/>
                <a:cs typeface="Helvetica Neue"/>
              </a:rPr>
              <a:t>Expected qualitative value: more engineering capacity for business applications and less dependence on specialist gateway knowledge.</a:t>
            </a:r>
          </a:p>
        </p:txBody>
      </p:sp>
    </p:spTree>
    <p:extLst>
      <p:ext uri="{BB962C8B-B14F-4D97-AF65-F5344CB8AC3E}">
        <p14:creationId xmlns:p14="http://schemas.microsoft.com/office/powerpoint/2010/main" val="973782436"/>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025B292-5629-4AF6-8119-65C0C020C690}"/>
              </a:ext>
            </a:extLst>
          </p:cNvPr>
          <p:cNvSpPr>
            <a:spLocks xmlns:a="http://schemas.openxmlformats.org/drawingml/2006/main" noGrp="1"/>
          </p:cNvSpPr>
          <p:nvPr/>
        </p:nvSpPr>
        <p:spPr>
          <a:xfrm xmlns:a="http://schemas.openxmlformats.org/drawingml/2006/main">
            <a:off x="571500" y="26670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7E76"/>
                </a:solidFill>
                <a:latin typeface="Helvetica Neue"/>
                <a:ea typeface="Helvetica Neue"/>
                <a:cs typeface="Helvetica Neue"/>
              </a:defRPr>
            </a:pPr>
            <a:r>
              <a:rPr sz="1200" b="1">
                <a:solidFill>
                  <a:srgbClr val="007E76"/>
                </a:solidFill>
                <a:latin typeface="Helvetica Neue"/>
                <a:ea typeface="Helvetica Neue"/>
                <a:cs typeface="Helvetica Neue"/>
              </a:rPr>
              <a:t>KONG API + AI GATEWAY</a:t>
            </a:r>
          </a:p>
        </p:txBody>
      </p:sp>
      <p:sp>
        <p:nvSpPr>
          <p:cNvPr id="2" name="">
            <a:extLst xmlns:a="http://schemas.openxmlformats.org/drawingml/2006/main">
              <a:ext uri="{FF2B5EF4-FFF2-40B4-BE49-F238E27FC236}">
                <a16:creationId xmlns:a16="http://schemas.microsoft.com/office/drawing/2014/main" id="{BC781727-D1E7-46A6-9CB9-C7D3B162DB1C}"/>
              </a:ext>
            </a:extLst>
          </p:cNvPr>
          <p:cNvSpPr>
            <a:spLocks xmlns:a="http://schemas.openxmlformats.org/drawingml/2006/main" noGrp="1"/>
          </p:cNvSpPr>
          <p:nvPr/>
        </p:nvSpPr>
        <p:spPr>
          <a:xfrm xmlns:a="http://schemas.openxmlformats.org/drawingml/2006/main">
            <a:off x="571500" y="733425"/>
            <a:ext cx="11049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02D35"/>
                </a:solidFill>
                <a:latin typeface="Helvetica Neue"/>
                <a:ea typeface="Helvetica Neue"/>
                <a:cs typeface="Helvetica Neue"/>
              </a:defRPr>
            </a:pPr>
            <a:r>
              <a:rPr sz="3150" b="1">
                <a:solidFill>
                  <a:srgbClr val="102D35"/>
                </a:solidFill>
                <a:latin typeface="Helvetica Neue"/>
                <a:ea typeface="Helvetica Neue"/>
                <a:cs typeface="Helvetica Neue"/>
              </a:rPr>
              <a:t>Investment case and decision criteria</a:t>
            </a:r>
          </a:p>
        </p:txBody>
      </p:sp>
      <p:sp>
        <p:nvSpPr>
          <p:cNvPr id="3" name="">
            <a:extLst xmlns:a="http://schemas.openxmlformats.org/drawingml/2006/main">
              <a:ext uri="{FF2B5EF4-FFF2-40B4-BE49-F238E27FC236}">
                <a16:creationId xmlns:a16="http://schemas.microsoft.com/office/drawing/2014/main" id="{94D2B799-BA80-4A1C-B249-E9602404D593}"/>
              </a:ext>
            </a:extLst>
          </p:cNvPr>
          <p:cNvSpPr>
            <a:spLocks xmlns:a="http://schemas.openxmlformats.org/drawingml/2006/main" noGrp="1"/>
          </p:cNvSpPr>
          <p:nvPr/>
        </p:nvSpPr>
        <p:spPr>
          <a:xfrm xmlns:a="http://schemas.openxmlformats.org/drawingml/2006/main">
            <a:off x="1114425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C"/>
                </a:solidFill>
                <a:latin typeface="Helvetica Neue"/>
                <a:ea typeface="Helvetica Neue"/>
                <a:cs typeface="Helvetica Neue"/>
              </a:defRPr>
            </a:pPr>
            <a:r>
              <a:rPr sz="1200" b="0">
                <a:solidFill>
                  <a:srgbClr val="52676C"/>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1102D5A7-C2F0-40F7-96C3-2D5EDDA43DB2}"/>
              </a:ext>
            </a:extLst>
          </p:cNvPr>
          <p:cNvSpPr>
            <a:spLocks xmlns:a="http://schemas.openxmlformats.org/drawingml/2006/main" noGrp="1"/>
          </p:cNvSpPr>
          <p:nvPr/>
        </p:nvSpPr>
        <p:spPr>
          <a:xfrm xmlns:a="http://schemas.openxmlformats.org/drawingml/2006/main">
            <a:off x="571500" y="200977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76"/>
                </a:solidFill>
                <a:latin typeface="Helvetica Neue"/>
                <a:ea typeface="Helvetica Neue"/>
                <a:cs typeface="Helvetica Neue"/>
              </a:defRPr>
            </a:pPr>
            <a:r>
              <a:rPr sz="2250" b="1">
                <a:solidFill>
                  <a:srgbClr val="007E76"/>
                </a:solidFill>
                <a:latin typeface="Helvetica Neue"/>
                <a:ea typeface="Helvetica Neue"/>
                <a:cs typeface="Helvetica Neue"/>
              </a:rPr>
              <a:t>The case for the premium</a:t>
            </a:r>
          </a:p>
        </p:txBody>
      </p:sp>
      <p:sp>
        <p:nvSpPr>
          <p:cNvPr id="5" name="">
            <a:extLst xmlns:a="http://schemas.openxmlformats.org/drawingml/2006/main">
              <a:ext uri="{FF2B5EF4-FFF2-40B4-BE49-F238E27FC236}">
                <a16:creationId xmlns:a16="http://schemas.microsoft.com/office/drawing/2014/main" id="{27E27CDE-0D5B-405C-B888-CF90CD5328AF}"/>
              </a:ext>
            </a:extLst>
          </p:cNvPr>
          <p:cNvSpPr>
            <a:spLocks xmlns:a="http://schemas.openxmlformats.org/drawingml/2006/main" noGrp="1"/>
          </p:cNvSpPr>
          <p:nvPr/>
        </p:nvSpPr>
        <p:spPr>
          <a:xfrm xmlns:a="http://schemas.openxmlformats.org/drawingml/2006/main">
            <a:off x="571500" y="2581275"/>
            <a:ext cx="490537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D35"/>
                </a:solidFill>
                <a:latin typeface="Helvetica Neue"/>
                <a:ea typeface="Helvetica Neue"/>
                <a:cs typeface="Helvetica Neue"/>
              </a:defRPr>
            </a:pPr>
            <a:r>
              <a:rPr sz="2100" b="0">
                <a:solidFill>
                  <a:srgbClr val="102D35"/>
                </a:solidFill>
                <a:latin typeface="Helvetica Neue"/>
                <a:ea typeface="Helvetica Neue"/>
                <a:cs typeface="Helvetica Neue"/>
              </a:rPr>
              <a:t>Managed service ownership reduces internal platform responsibilities. The API catalogue replaces an existing cost, while AI gateway capabilities support the planned AI roadmap.</a:t>
            </a:r>
          </a:p>
        </p:txBody>
      </p:sp>
      <p:sp>
        <p:nvSpPr>
          <p:cNvPr id="6" name="">
            <a:extLst xmlns:a="http://schemas.openxmlformats.org/drawingml/2006/main">
              <a:ext uri="{FF2B5EF4-FFF2-40B4-BE49-F238E27FC236}">
                <a16:creationId xmlns:a16="http://schemas.microsoft.com/office/drawing/2014/main" id="{B35DDC1A-50E4-4755-8072-681FD954ACD6}"/>
              </a:ext>
            </a:extLst>
          </p:cNvPr>
          <p:cNvSpPr>
            <a:spLocks xmlns:a="http://schemas.openxmlformats.org/drawingml/2006/main" noGrp="1"/>
          </p:cNvSpPr>
          <p:nvPr/>
        </p:nvSpPr>
        <p:spPr>
          <a:xfrm xmlns:a="http://schemas.openxmlformats.org/drawingml/2006/main">
            <a:off x="571500" y="4619625"/>
            <a:ext cx="4905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6C"/>
                </a:solidFill>
                <a:latin typeface="Helvetica Neue"/>
                <a:ea typeface="Helvetica Neue"/>
                <a:cs typeface="Helvetica Neue"/>
              </a:defRPr>
            </a:pPr>
            <a:r>
              <a:rPr sz="1875" b="0">
                <a:solidFill>
                  <a:srgbClr val="52676C"/>
                </a:solidFill>
                <a:latin typeface="Helvetica Neue"/>
                <a:ea typeface="Helvetica Neue"/>
                <a:cs typeface="Helvetica Neue"/>
              </a:rPr>
              <a:t>Historical development explains the current platform’s investment. It is a sunk cost. Future work avoided is the relevant benefit.</a:t>
            </a:r>
          </a:p>
        </p:txBody>
      </p:sp>
      <p:sp>
        <p:nvSpPr>
          <p:cNvPr id="7" name="">
            <a:extLst xmlns:a="http://schemas.openxmlformats.org/drawingml/2006/main">
              <a:ext uri="{FF2B5EF4-FFF2-40B4-BE49-F238E27FC236}">
                <a16:creationId xmlns:a16="http://schemas.microsoft.com/office/drawing/2014/main" id="{9C2AC533-4051-464D-8D4A-4DC1E19F86EC}"/>
              </a:ext>
            </a:extLst>
          </p:cNvPr>
          <p:cNvSpPr>
            <a:spLocks xmlns:a="http://schemas.openxmlformats.org/drawingml/2006/main" noGrp="1"/>
          </p:cNvSpPr>
          <p:nvPr/>
        </p:nvSpPr>
        <p:spPr>
          <a:xfrm xmlns:a="http://schemas.openxmlformats.org/drawingml/2006/main">
            <a:off x="6381750" y="200977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76"/>
                </a:solidFill>
                <a:latin typeface="Helvetica Neue"/>
                <a:ea typeface="Helvetica Neue"/>
                <a:cs typeface="Helvetica Neue"/>
              </a:defRPr>
            </a:pPr>
            <a:r>
              <a:rPr sz="2250" b="1">
                <a:solidFill>
                  <a:srgbClr val="007E76"/>
                </a:solidFill>
                <a:latin typeface="Helvetica Neue"/>
                <a:ea typeface="Helvetica Neue"/>
                <a:cs typeface="Helvetica Neue"/>
              </a:rPr>
              <a:t>Evidence required for approval</a:t>
            </a:r>
          </a:p>
        </p:txBody>
      </p:sp>
      <p:sp>
        <p:nvSpPr>
          <p:cNvPr id="8" name="">
            <a:extLst xmlns:a="http://schemas.openxmlformats.org/drawingml/2006/main">
              <a:ext uri="{FF2B5EF4-FFF2-40B4-BE49-F238E27FC236}">
                <a16:creationId xmlns:a16="http://schemas.microsoft.com/office/drawing/2014/main" id="{EA4EB62D-6204-4E93-8A6B-6CB33851E631}"/>
              </a:ext>
            </a:extLst>
          </p:cNvPr>
          <p:cNvSpPr>
            <a:spLocks xmlns:a="http://schemas.openxmlformats.org/drawingml/2006/main" noGrp="1"/>
          </p:cNvSpPr>
          <p:nvPr/>
        </p:nvSpPr>
        <p:spPr>
          <a:xfrm xmlns:a="http://schemas.openxmlformats.org/drawingml/2006/main">
            <a:off x="6381750" y="2590800"/>
            <a:ext cx="342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E76"/>
                </a:solidFill>
                <a:latin typeface="Helvetica Neue"/>
                <a:ea typeface="Helvetica Neue"/>
                <a:cs typeface="Helvetica Neue"/>
              </a:defRPr>
            </a:pPr>
            <a:r>
              <a:rPr sz="1875" b="1">
                <a:solidFill>
                  <a:srgbClr val="007E76"/>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71FEC353-DB0F-4320-A444-713DF63DA071}"/>
              </a:ext>
            </a:extLst>
          </p:cNvPr>
          <p:cNvSpPr>
            <a:spLocks xmlns:a="http://schemas.openxmlformats.org/drawingml/2006/main" noGrp="1"/>
          </p:cNvSpPr>
          <p:nvPr/>
        </p:nvSpPr>
        <p:spPr>
          <a:xfrm xmlns:a="http://schemas.openxmlformats.org/drawingml/2006/main">
            <a:off x="6848475" y="2590800"/>
            <a:ext cx="4629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35"/>
                </a:solidFill>
                <a:latin typeface="Helvetica Neue"/>
                <a:ea typeface="Helvetica Neue"/>
                <a:cs typeface="Helvetica Neue"/>
              </a:defRPr>
            </a:pPr>
            <a:r>
              <a:rPr sz="1875" b="0">
                <a:solidFill>
                  <a:srgbClr val="102D35"/>
                </a:solidFill>
                <a:latin typeface="Helvetica Neue"/>
                <a:ea typeface="Helvetica Neue"/>
                <a:cs typeface="Helvetica Neue"/>
              </a:rPr>
              <a:t>Confirm managed scope, support commitments and complete three-year TCO.</a:t>
            </a:r>
          </a:p>
        </p:txBody>
      </p:sp>
      <p:sp>
        <p:nvSpPr>
          <p:cNvPr id="10" name="">
            <a:extLst xmlns:a="http://schemas.openxmlformats.org/drawingml/2006/main">
              <a:ext uri="{FF2B5EF4-FFF2-40B4-BE49-F238E27FC236}">
                <a16:creationId xmlns:a16="http://schemas.microsoft.com/office/drawing/2014/main" id="{27700EDC-4249-4760-860E-E9D2C18D93AB}"/>
              </a:ext>
            </a:extLst>
          </p:cNvPr>
          <p:cNvSpPr>
            <a:spLocks xmlns:a="http://schemas.openxmlformats.org/drawingml/2006/main" noGrp="1"/>
          </p:cNvSpPr>
          <p:nvPr/>
        </p:nvSpPr>
        <p:spPr>
          <a:xfrm xmlns:a="http://schemas.openxmlformats.org/drawingml/2006/main">
            <a:off x="6381750" y="3381375"/>
            <a:ext cx="342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E76"/>
                </a:solidFill>
                <a:latin typeface="Helvetica Neue"/>
                <a:ea typeface="Helvetica Neue"/>
                <a:cs typeface="Helvetica Neue"/>
              </a:defRPr>
            </a:pPr>
            <a:r>
              <a:rPr sz="1875" b="1">
                <a:solidFill>
                  <a:srgbClr val="007E76"/>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34F26EE4-3686-430B-99E0-EA514142D622}"/>
              </a:ext>
            </a:extLst>
          </p:cNvPr>
          <p:cNvSpPr>
            <a:spLocks xmlns:a="http://schemas.openxmlformats.org/drawingml/2006/main" noGrp="1"/>
          </p:cNvSpPr>
          <p:nvPr/>
        </p:nvSpPr>
        <p:spPr>
          <a:xfrm xmlns:a="http://schemas.openxmlformats.org/drawingml/2006/main">
            <a:off x="6848475" y="3381375"/>
            <a:ext cx="4629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35"/>
                </a:solidFill>
                <a:latin typeface="Helvetica Neue"/>
                <a:ea typeface="Helvetica Neue"/>
                <a:cs typeface="Helvetica Neue"/>
              </a:defRPr>
            </a:pPr>
            <a:r>
              <a:rPr sz="1875" b="0">
                <a:solidFill>
                  <a:srgbClr val="102D35"/>
                </a:solidFill>
                <a:latin typeface="Helvetica Neue"/>
                <a:ea typeface="Helvetica Neue"/>
                <a:cs typeface="Helvetica Neue"/>
              </a:rPr>
              <a:t>Validate catalogue replacement and retire the $35k annual cost.</a:t>
            </a:r>
          </a:p>
        </p:txBody>
      </p:sp>
      <p:sp>
        <p:nvSpPr>
          <p:cNvPr id="12" name="">
            <a:extLst xmlns:a="http://schemas.openxmlformats.org/drawingml/2006/main">
              <a:ext uri="{FF2B5EF4-FFF2-40B4-BE49-F238E27FC236}">
                <a16:creationId xmlns:a16="http://schemas.microsoft.com/office/drawing/2014/main" id="{C38AD3C2-9CEE-42EB-8D94-9C1790FFE422}"/>
              </a:ext>
            </a:extLst>
          </p:cNvPr>
          <p:cNvSpPr>
            <a:spLocks xmlns:a="http://schemas.openxmlformats.org/drawingml/2006/main" noGrp="1"/>
          </p:cNvSpPr>
          <p:nvPr/>
        </p:nvSpPr>
        <p:spPr>
          <a:xfrm xmlns:a="http://schemas.openxmlformats.org/drawingml/2006/main">
            <a:off x="6381750" y="4171950"/>
            <a:ext cx="342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E76"/>
                </a:solidFill>
                <a:latin typeface="Helvetica Neue"/>
                <a:ea typeface="Helvetica Neue"/>
                <a:cs typeface="Helvetica Neue"/>
              </a:defRPr>
            </a:pPr>
            <a:r>
              <a:rPr sz="1875" b="1">
                <a:solidFill>
                  <a:srgbClr val="007E76"/>
                </a:solidFill>
                <a:latin typeface="Helvetica Neue"/>
                <a:ea typeface="Helvetica Neue"/>
                <a:cs typeface="Helvetica Neue"/>
              </a:rPr>
              <a:t>3</a:t>
            </a:r>
          </a:p>
        </p:txBody>
      </p:sp>
      <p:sp>
        <p:nvSpPr>
          <p:cNvPr id="13" name="">
            <a:extLst xmlns:a="http://schemas.openxmlformats.org/drawingml/2006/main">
              <a:ext uri="{FF2B5EF4-FFF2-40B4-BE49-F238E27FC236}">
                <a16:creationId xmlns:a16="http://schemas.microsoft.com/office/drawing/2014/main" id="{535F902E-953B-47A6-A67F-4828CBB47FA6}"/>
              </a:ext>
            </a:extLst>
          </p:cNvPr>
          <p:cNvSpPr>
            <a:spLocks xmlns:a="http://schemas.openxmlformats.org/drawingml/2006/main" noGrp="1"/>
          </p:cNvSpPr>
          <p:nvPr/>
        </p:nvSpPr>
        <p:spPr>
          <a:xfrm xmlns:a="http://schemas.openxmlformats.org/drawingml/2006/main">
            <a:off x="6848475" y="4171950"/>
            <a:ext cx="4629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35"/>
                </a:solidFill>
                <a:latin typeface="Helvetica Neue"/>
                <a:ea typeface="Helvetica Neue"/>
                <a:cs typeface="Helvetica Neue"/>
              </a:defRPr>
            </a:pPr>
            <a:r>
              <a:rPr sz="1875" b="0">
                <a:solidFill>
                  <a:srgbClr val="102D35"/>
                </a:solidFill>
                <a:latin typeface="Helvetica Neue"/>
                <a:ea typeface="Helvetica Neue"/>
                <a:cs typeface="Helvetica Neue"/>
              </a:rPr>
              <a:t>Demonstrate required API and AI use cases in a focused pilot.</a:t>
            </a:r>
          </a:p>
        </p:txBody>
      </p:sp>
      <p:sp>
        <p:nvSpPr>
          <p:cNvPr id="14" name="">
            <a:extLst xmlns:a="http://schemas.openxmlformats.org/drawingml/2006/main">
              <a:ext uri="{FF2B5EF4-FFF2-40B4-BE49-F238E27FC236}">
                <a16:creationId xmlns:a16="http://schemas.microsoft.com/office/drawing/2014/main" id="{33D3B962-F1C5-44ED-BC93-456D403554C4}"/>
              </a:ext>
            </a:extLst>
          </p:cNvPr>
          <p:cNvSpPr>
            <a:spLocks xmlns:a="http://schemas.openxmlformats.org/drawingml/2006/main" noGrp="1"/>
          </p:cNvSpPr>
          <p:nvPr/>
        </p:nvSpPr>
        <p:spPr>
          <a:xfrm xmlns:a="http://schemas.openxmlformats.org/drawingml/2006/main">
            <a:off x="6381750" y="4962525"/>
            <a:ext cx="342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E76"/>
                </a:solidFill>
                <a:latin typeface="Helvetica Neue"/>
                <a:ea typeface="Helvetica Neue"/>
                <a:cs typeface="Helvetica Neue"/>
              </a:defRPr>
            </a:pPr>
            <a:r>
              <a:rPr sz="1875" b="1">
                <a:solidFill>
                  <a:srgbClr val="007E76"/>
                </a:solidFill>
                <a:latin typeface="Helvetica Neue"/>
                <a:ea typeface="Helvetica Neue"/>
                <a:cs typeface="Helvetica Neue"/>
              </a:rPr>
              <a:t>4</a:t>
            </a:r>
          </a:p>
        </p:txBody>
      </p:sp>
      <p:sp>
        <p:nvSpPr>
          <p:cNvPr id="15" name="">
            <a:extLst xmlns:a="http://schemas.openxmlformats.org/drawingml/2006/main">
              <a:ext uri="{FF2B5EF4-FFF2-40B4-BE49-F238E27FC236}">
                <a16:creationId xmlns:a16="http://schemas.microsoft.com/office/drawing/2014/main" id="{26F65DB6-D18F-4DA6-8254-361BC792D032}"/>
              </a:ext>
            </a:extLst>
          </p:cNvPr>
          <p:cNvSpPr>
            <a:spLocks xmlns:a="http://schemas.openxmlformats.org/drawingml/2006/main" noGrp="1"/>
          </p:cNvSpPr>
          <p:nvPr/>
        </p:nvSpPr>
        <p:spPr>
          <a:xfrm xmlns:a="http://schemas.openxmlformats.org/drawingml/2006/main">
            <a:off x="6848475" y="4962525"/>
            <a:ext cx="4629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35"/>
                </a:solidFill>
                <a:latin typeface="Helvetica Neue"/>
                <a:ea typeface="Helvetica Neue"/>
                <a:cs typeface="Helvetica Neue"/>
              </a:defRPr>
            </a:pPr>
            <a:r>
              <a:rPr sz="1875" b="0">
                <a:solidFill>
                  <a:srgbClr val="102D35"/>
                </a:solidFill>
                <a:latin typeface="Helvetica Neue"/>
                <a:ea typeface="Helvetica Neue"/>
                <a:cs typeface="Helvetica Neue"/>
              </a:rPr>
              <a:t>Compare Kong with retaining Spring and adding an AI gateway.</a:t>
            </a:r>
          </a:p>
        </p:txBody>
      </p:sp>
      <p:sp>
        <p:nvSpPr>
          <p:cNvPr id="16" name="">
            <a:extLst xmlns:a="http://schemas.openxmlformats.org/drawingml/2006/main">
              <a:ext uri="{FF2B5EF4-FFF2-40B4-BE49-F238E27FC236}">
                <a16:creationId xmlns:a16="http://schemas.microsoft.com/office/drawing/2014/main" id="{985D46DF-BAE9-4A57-8EA0-C9852CA37848}"/>
              </a:ext>
            </a:extLst>
          </p:cNvPr>
          <p:cNvSpPr>
            <a:spLocks xmlns:a="http://schemas.openxmlformats.org/drawingml/2006/main" noGrp="1"/>
          </p:cNvSpPr>
          <p:nvPr/>
        </p:nvSpPr>
        <p:spPr>
          <a:xfrm xmlns:a="http://schemas.openxmlformats.org/drawingml/2006/main">
            <a:off x="571500" y="59817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02D35"/>
                </a:solidFill>
                <a:latin typeface="Helvetica Neue"/>
                <a:ea typeface="Helvetica Neue"/>
                <a:cs typeface="Helvetica Neue"/>
              </a:defRPr>
            </a:pPr>
            <a:r>
              <a:rPr sz="1650" b="1">
                <a:solidFill>
                  <a:srgbClr val="102D35"/>
                </a:solidFill>
                <a:latin typeface="Helvetica Neue"/>
                <a:ea typeface="Helvetica Neue"/>
                <a:cs typeface="Helvetica Neue"/>
              </a:rPr>
              <a:t>Recommendation: base approval on capability fit and service accountability. Measure operational effort and onboarding time during the pilot.</a:t>
            </a:r>
          </a:p>
        </p:txBody>
      </p:sp>
    </p:spTree>
    <p:extLst>
      <p:ext uri="{BB962C8B-B14F-4D97-AF65-F5344CB8AC3E}">
        <p14:creationId xmlns:p14="http://schemas.microsoft.com/office/powerpoint/2010/main" val="15375108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2026-09-28T17:07:48.8090000Z</dcterms:created>
  <dcterms:modified xsi:type="dcterms:W3CDTF">2026-09-28T17:07:48.8090000Z</dcterms:modified>
</coreProperties>
</file>