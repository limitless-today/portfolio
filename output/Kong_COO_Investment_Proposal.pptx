
<file path=[Content_Types].xml><?xml version="1.0" encoding="utf-8"?>
<Types xmlns="http://schemas.openxmlformats.org/package/2006/content-types">
  <Default Extension="xml" ContentType="application/vnd.openxmlformats-package.core-properties+xml"/>
  <Default Extension="rels" ContentType="application/vnd.openxmlformats-package.relationships+xml"/>
  <Override PartName="/docProps/app.xml" ContentType="application/vnd.openxmlformats-officedocument.extended-properties+xml"/>
  <Override PartName="/ppt/presentation.xml" ContentType="application/vnd.openxmlformats-officedocument.presentationml.presentation.main+xml"/>
  <Override PartName="/ppt/theme/theme1.xml" ContentType="application/vnd.openxmlformats-officedocument.theme+xml"/>
  <Override PartName="/ppt/slideMasters/slideMaster1.xml" ContentType="application/vnd.openxmlformats-officedocument.presentationml.slideMaster+xml"/>
  <Override PartName="/ppt/slideMasters/theme/theme2.xml" ContentType="application/vnd.openxmlformats-officedocument.theme+xml"/>
  <Override PartName="/ppt/slideLayouts/slideLayout1.xml" ContentType="application/vnd.openxmlformats-officedocument.presentationml.slideLayout+xml"/>
  <Override PartName="/ppt/notesMasters/notesMaster1.xml" ContentType="application/vnd.openxmlformats-officedocument.presentationml.notesMaster+xml"/>
  <Override PartName="/ppt/notesMasters/theme/theme3.xml" ContentType="application/vnd.openxmlformats-officedocument.theme+xml"/>
  <Override PartName="/ppt/presProps.xml" ContentType="application/vnd.openxmlformats-officedocument.presentationml.presProps+xml"/>
  <Override PartName="/ppt/tableStyles.xml" ContentType="application/vnd.openxmlformats-officedocument.presentationml.tableStyles+xml"/>
  <Override PartName="/ppt/slides/slide1.xml" ContentType="application/vnd.openxmlformats-officedocument.presentationml.slide+xml"/>
  <Override PartName="/ppt/notesSlides/notesSlide1.xml" ContentType="application/vnd.openxmlformats-officedocument.presentationml.notesSlide+xml"/>
  <Override PartName="/ppt/slides/slide2.xml" ContentType="application/vnd.openxmlformats-officedocument.presentationml.slide+xml"/>
  <Override PartName="/ppt/notesSlides/notesSlide2.xml" ContentType="application/vnd.openxmlformats-officedocument.presentationml.notesSlide+xml"/>
  <Override PartName="/ppt/slides/slide3.xml" ContentType="application/vnd.openxmlformats-officedocument.presentationml.slide+xml"/>
  <Override PartName="/ppt/notesSlides/notesSlide3.xml" ContentType="application/vnd.openxmlformats-officedocument.presentationml.notesSlide+xml"/>
</Types>
</file>

<file path=_rels/.rels>&#65279;<?xml version="1.0" encoding="utf-8"?><Relationships xmlns="http://schemas.openxmlformats.org/package/2006/relationships"><Relationship Type="http://schemas.openxmlformats.org/package/2006/relationships/metadata/core-properties" Target="/docProps/core.xml" Id="Rd0c80e866916414d" /><Relationship Type="http://schemas.openxmlformats.org/officeDocument/2006/relationships/extended-properties" Target="/docProps/app.xml" Id="Rcb82b1f33e7f4c31" /><Relationship Type="http://schemas.openxmlformats.org/officeDocument/2006/relationships/officeDocument" Target="/ppt/presentation.xml" Id="Rec670686fc7c4fb7" /></Relationships>
</file>

<file path=ppt/presentation.xml><?xml version="1.0" encoding="utf-8"?>
<p:presentation xmlns:p="http://schemas.openxmlformats.org/presentationml/2006/main">
  <p:sldMasterIdLst>
    <p:sldMasterId xmlns:r="http://schemas.openxmlformats.org/officeDocument/2006/relationships" id="2147483648" r:id="Rbe0ebfbe7cdc4ff2"/>
  </p:sldMasterIdLst>
  <p:notesMasterIdLst>
    <p:notesMasterId xmlns:r="http://schemas.openxmlformats.org/officeDocument/2006/relationships" r:id="Rbe7398f7ea974d9f"/>
  </p:notesMasterIdLst>
  <p:sldIdLst>
    <p:sldId xmlns:r="http://schemas.openxmlformats.org/officeDocument/2006/relationships" id="256" r:id="R7a4cebb437484db6"/>
    <p:sldId xmlns:r="http://schemas.openxmlformats.org/officeDocument/2006/relationships" id="257" r:id="R577f2ce2e7fd45f3"/>
    <p:sldId xmlns:r="http://schemas.openxmlformats.org/officeDocument/2006/relationships" id="258" r:id="Rd707aaafb4d14fa5"/>
  </p:sldIdLst>
  <p:sldSz cx="12192000" cy="6858000"/>
  <p:notesSz cx="6858000" cy="9144000"/>
</p:presentation>
</file>

<file path=ppt/presProps.xml><?xml version="1.0" encoding="utf-8"?>
<p:presentationPr xmlns:p="http://schemas.openxmlformats.org/presentationml/2006/main">
  <p:extLst>
    <p:ext xmlns:p14="http://schemas.microsoft.com/office/powerpoint/2010/main" uri="{E76CE94A-603C-4142-B9EB-6D1370010A27}">
      <p14:discardImageEditData val="0"/>
    </p:ext>
    <p:ext xmlns:p14="http://schemas.microsoft.com/office/powerpoint/2010/main" uri="{D31A062A-798A-4329-ABDD-BBA856620510}">
      <p14:defaultImageDpi val="32767"/>
    </p:ext>
    <p:ext xmlns:p15="http://schemas.microsoft.com/office/powerpoint/2012/main" uri="{FD5EFAAD-0ECE-453E-9831-46B23BE46B34}">
      <p15:chartTrackingRefBased val="1"/>
    </p:ext>
  </p:extLst>
</p:presentationPr>
</file>

<file path=ppt/tableStyles.xml><?xml version="1.0" encoding="utf-8"?>
<a:tblStyleLst xmlns:a="http://schemas.openxmlformats.org/drawingml/2006/main" def="{5C22544A-7EE6-4342-B048-85BDC9FD1C3A}"/>
</file>

<file path=ppt/_rels/presentation.xml.rels>&#65279;<?xml version="1.0" encoding="utf-8"?><Relationships xmlns="http://schemas.openxmlformats.org/package/2006/relationships"><Relationship Type="http://schemas.openxmlformats.org/officeDocument/2006/relationships/theme" Target="/ppt/theme/theme1.xml" Id="R2f0ee1a22a6b4bb4" /><Relationship Type="http://schemas.openxmlformats.org/officeDocument/2006/relationships/slideMaster" Target="/ppt/slideMasters/slideMaster1.xml" Id="Rbe0ebfbe7cdc4ff2" /><Relationship Type="http://schemas.openxmlformats.org/officeDocument/2006/relationships/notesMaster" Target="/ppt/notesMasters/notesMaster1.xml" Id="Rbe7398f7ea974d9f" /><Relationship Type="http://schemas.openxmlformats.org/officeDocument/2006/relationships/presProps" Target="/ppt/presProps.xml" Id="Re3a79e0631d34b4e" /><Relationship Type="http://schemas.openxmlformats.org/officeDocument/2006/relationships/tableStyles" Target="/ppt/tableStyles.xml" Id="R1dc9f0656c46444c" /><Relationship Type="http://schemas.openxmlformats.org/officeDocument/2006/relationships/slide" Target="/ppt/slides/slide1.xml" Id="R7a4cebb437484db6" /><Relationship Type="http://schemas.openxmlformats.org/officeDocument/2006/relationships/slide" Target="/ppt/slides/slide2.xml" Id="R577f2ce2e7fd45f3" /><Relationship Type="http://schemas.openxmlformats.org/officeDocument/2006/relationships/slide" Target="/ppt/slides/slide3.xml" Id="Rd707aaafb4d14fa5" /></Relationships>
</file>

<file path=ppt/notesMasters/_rels/notesMaster1.xml.rels>&#65279;<?xml version="1.0" encoding="utf-8"?><Relationships xmlns="http://schemas.openxmlformats.org/package/2006/relationships"><Relationship Type="http://schemas.openxmlformats.org/officeDocument/2006/relationships/theme" Target="/ppt/notesMasters/theme/theme3.xml" Id="R62ac197e67bc4170" /></Relationships>
</file>

<file path=ppt/notesMasters/notesMaster1.xml><?xml version="1.0" encoding="utf-8"?>
<p:notesMaster xmlns:p="http://schemas.openxmlformats.org/presentationml/2006/main">
  <p:cSld>
    <p:bg>
      <p:bgRef idx="1001">
        <a:schemeClr xmlns:a="http://schemas.openxmlformats.org/drawingml/2006/main" val="bg1"/>
      </p:bgRef>
    </p:bg>
    <p:spTree>
      <p:nvGrpSpPr>
        <p:cNvPr id="1" name=""/>
        <p:cNvGrpSpPr/>
        <p:nvPr/>
      </p:nvGrpSpPr>
      <p:grpSpPr>
        <a:xfrm xmlns:a="http://schemas.openxmlformats.org/drawingml/2006/main"/>
      </p:grpSpPr>
      <p:sp>
        <p:nvSpPr>
          <p:cNvPr id="2" name="Header Placeholder"/>
          <p:cNvSpPr/>
          <p:nvPr>
            <p:ph type="hdr" sz="quarter"/>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3" name="Date Placeholder"/>
          <p:cNvSpPr/>
          <p:nvPr>
            <p:ph type="dt" sz="quarter" idx="1"/>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4" name="Slide Image Placeholder"/>
          <p:cNvSpPr/>
          <p:nvPr>
            <p:ph type="sldImg" idx="2"/>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5" name="Notes Placeholder"/>
          <p:cNvSpPr/>
          <p:nvPr>
            <p:ph type="body" sz="quarter" idx="3"/>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6" name="Footer Placeholder"/>
          <p:cNvSpPr/>
          <p:nvPr>
            <p:ph type="ftr" sz="quarter" idx="4"/>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
        <p:nvSpPr>
          <p:cNvPr id="7" name="Slide Number Placeholder"/>
          <p:cNvSpPr/>
          <p:nvPr>
            <p:ph type="sldNum" sz="quarter" idx="5"/>
          </p:nvPr>
        </p:nvSpPr>
        <p:spPr>
          <a:prstGeom xmlns:a="http://schemas.openxmlformats.org/drawingml/2006/main" prst="rect">
            <a:avLst/>
          </a:prstGeom>
        </p:spPr>
        <p:txBody>
          <a:bodyPr xmlns:a="http://schemas.openxmlformats.org/drawingml/2006/main"/>
          <a:lstStyle xmlns:a="http://schemas.openxmlformats.org/drawingml/2006/main"/>
          <a:p xmlns:a="http://schemas.openxmlformats.org/drawingml/2006/main"/>
        </p:txBody>
      </p:sp>
    </p:spTree>
  </p:cSld>
  <p:clrMap bg1="lt1" tx1="dk1" bg2="lt2" tx2="dk2" accent1="accent1" accent2="accent2" accent3="accent3" accent4="accent4" accent5="accent5" accent6="accent6" hlink="hlink" folHlink="folHlink"/>
  <p:notesStyle>
    <a:lvl1pPr xmlns:a="http://schemas.openxmlformats.org/drawingml/2006/main" marL="0" algn="l" defTabSz="914400" rtl="0" eaLnBrk="1" latinLnBrk="0" hangingPunct="1">
      <a:defRPr sz="1200" kern="1200"/>
    </a:lvl1pPr>
  </p:notesStyle>
</p:notesMaster>
</file>

<file path=ppt/notesMasters/theme/theme3.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notesSlides/_rels/notesSlide1.xml.rels>&#65279;<?xml version="1.0" encoding="utf-8"?><Relationships xmlns="http://schemas.openxmlformats.org/package/2006/relationships"><Relationship Type="http://schemas.openxmlformats.org/officeDocument/2006/relationships/slide" Target="/ppt/slides/slide1.xml" Id="R50006cb56712428c" /><Relationship Type="http://schemas.openxmlformats.org/officeDocument/2006/relationships/notesMaster" Target="/ppt/notesMasters/notesMaster1.xml" Id="R527983a47fae4287" /></Relationships>
</file>

<file path=ppt/notesSlides/_rels/notesSlide2.xml.rels>&#65279;<?xml version="1.0" encoding="utf-8"?><Relationships xmlns="http://schemas.openxmlformats.org/package/2006/relationships"><Relationship Type="http://schemas.openxmlformats.org/officeDocument/2006/relationships/slide" Target="/ppt/slides/slide2.xml" Id="R75d9fd779fc348f3" /><Relationship Type="http://schemas.openxmlformats.org/officeDocument/2006/relationships/notesMaster" Target="/ppt/notesMasters/notesMaster1.xml" Id="R6298fc1526a14586" /></Relationships>
</file>

<file path=ppt/notesSlides/_rels/notesSlide3.xml.rels>&#65279;<?xml version="1.0" encoding="utf-8"?><Relationships xmlns="http://schemas.openxmlformats.org/package/2006/relationships"><Relationship Type="http://schemas.openxmlformats.org/officeDocument/2006/relationships/slide" Target="/ppt/slides/slide3.xml" Id="R1669b0b624654741" /><Relationship Type="http://schemas.openxmlformats.org/officeDocument/2006/relationships/notesMaster" Target="/ppt/notesMasters/notesMaster1.xml" Id="Reb430ee261104260" /></Relationships>
</file>

<file path=ppt/notesSlides/notesSlide1.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User-provided planning inputs: existing gateway infrastructure and operations cost below $100k annually, documentation cost $35k and proposed managed Kong three-year TCO $800k. Annual and separate treatment of documentation is an assumption carried from the discussion and needs confirmation. Current three-year baseline &lt; $300k + $105k = &lt; $405k. Under full cost displacement, benefits beyond current cost avoidance required for break-even exceed $395k, or $131,666.67 per year. Rounded display &gt; $132k is an approximate planning statement. ROI here uses gross proposal TCO as denominator: (avoidable baseline costs + additional monetized benefits - proposal TCO)/proposal TCO. Use actual avoidable costs, not all baseline costs by default. The $105k is already included in the baseline and cannot be deducted a second time. No positive ROI or payback is asserted. This is undiscounted three-year analysis. Finance can apply its discount rate once timing is established. Validate migration, integration, retained staff, provider consumption, growth, catalogue entitlement and AI entitlement in scope. Keep LLM consumption assumptions consistent across alternatives.</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2.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Qualitative benefits reflect the user’s proposed operating model, not measured outcomes. The user states Kong will handle infrastructure, infrastructure operations and patching. Validate precise contracted responsibility boundaries and avoid claiming all application or policy operations disappear. Spring Cloud Gateway is the framework underpinning the current internally developed gateway solution. Do not characterize Spring as incapable of proxying AI traffic. The current implementation requires additional AI management capabilities. Avoided future custom development is a potential benefit only when it is planned and actually displaced. Reduced key-person dependence does not eliminate internal ownership. External capability references from prior research: https://developer.konghq.com/ai-gateway/ and https://docs.spring.io/spring-cloud-gateway/reference/index.html . AI entitlement, catalogue capability and managed support commitments need commercial verification. Reliability improvements are hypotheses, not quantified incident savings. API catalogue replacement must cover current documentation requirements. Historical expenditure is sunk. Do not count maintenance hours already included in the operating baseline twice.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notesSlides/notesSlide3.xml><?xml version="1.0" encoding="utf-8"?>
<p:notes xmlns:p="http://schemas.openxmlformats.org/presentationml/2006/main">
  <p:cSld>
    <p:spTree>
      <p:nvGrpSpPr>
        <p:cNvPr id="1" name=""/>
        <p:cNvGrpSpPr/>
        <p:nvPr/>
      </p:nvGrpSpPr>
      <p:grpSpPr>
        <a:xfrm xmlns:a="http://schemas.openxmlformats.org/drawingml/2006/main"/>
      </p:grpSpPr>
      <p:sp>
        <p:nvSpPr>
          <p:cNvPr id="2" name="Slide Image Placeholder 1"/>
          <p:cNvSpPr>
            <a:spLocks xmlns:a="http://schemas.openxmlformats.org/drawingml/2006/main" noGrp="1"/>
          </p:cNvSpPr>
          <p:nvPr>
            <p:ph type="sldImg" idx="0"/>
          </p:nvPr>
        </p:nvSpPr>
        <p:spPr/>
      </p:sp>
      <p:sp>
        <p:nvSpPr>
          <p:cNvPr id="3" name="Notes Placeholder 2"/>
          <p:cNvSpPr>
            <a:spLocks xmlns:a="http://schemas.openxmlformats.org/drawingml/2006/main" noGrp="1"/>
          </p:cNvSpPr>
          <p:nvPr>
            <p:ph type="body" idx="1"/>
          </p:nvPr>
        </p:nvSpPr>
        <p:spPr/>
        <p:txBody>
          <a:bodyPr xmlns:a="http://schemas.openxmlformats.org/drawingml/2006/main"/>
          <a:lstStyle xmlns:a="http://schemas.openxmlformats.org/drawingml/2006/main"/>
          <a:p xmlns:a="http://schemas.openxmlformats.org/drawingml/2006/main">
            <a:r>
              <a:t>Suggested recommendation, not an approved programme: authorize a defined pilot or phased commitment before broad rollout. No pilot budget is supplied, so none is invented. Agree on measurable acceptance thresholds with owners before starting. Compare the complete costs of retaining Spring and adding required AI controls against the complete Kong offering. An AI-first scope may preserve functioning existing gateways and should be priced independently. Include migration effort, parallel running and retained internal responsibilities. The COO can approve a strategic investment without a proven positive financial ROI if mandatory capabilities and the cost premium are explicit. Financial benefits to value when evidence exists: actually retired documentation and gateway costs, planned future engineering or hiring genuinely avoided, measured net AI consumption savings. Keep released capacity and estimated risk reduction separate from cash savings. Do not invent revenue uplift, percentage savings, outage reduction or valuation of risk. Reassess benefits after rollout using agreed owners and review cadence.</a:t>
            </a:r>
          </a:p>
        </p:txBody>
      </p:sp>
      <p:sp>
        <p:nvSpPr>
          <p:cNvPr id="4" name="Slide Number Placeholder 3"/>
          <p:cNvSpPr>
            <a:spLocks xmlns:a="http://schemas.openxmlformats.org/drawingml/2006/main" noGrp="1"/>
          </p:cNvSpPr>
          <p:nvPr>
            <p:ph type="sldNum" idx="5"/>
          </p:nvPr>
        </p:nvSpPr>
        <p:spPr/>
        <p:txBody>
          <a:bodyPr xmlns:a="http://schemas.openxmlformats.org/drawingml/2006/main"/>
          <a:lstStyle xmlns:a="http://schemas.openxmlformats.org/drawingml/2006/main"/>
          <a:p xmlns:a="http://schemas.openxmlformats.org/drawingml/2006/main"/>
        </p:txBody>
      </p:sp>
    </p:spTree>
  </p:cSld>
  <p:clrMapOvr>
    <a:masterClrMapping xmlns:a="http://schemas.openxmlformats.org/drawingml/2006/main"/>
  </p:clrMapOvr>
</p:notes>
</file>

<file path=ppt/slideLayouts/_rels/slideLayout1.xml.rels>&#65279;<?xml version="1.0" encoding="utf-8"?><Relationships xmlns="http://schemas.openxmlformats.org/package/2006/relationships"><Relationship Type="http://schemas.openxmlformats.org/officeDocument/2006/relationships/slideMaster" Target="/ppt/slideMasters/slideMaster1.xml" Id="R198fadd8001543a2" /></Relationships>
</file>

<file path=ppt/slideLayouts/slideLayout1.xml><?xml version="1.0" encoding="utf-8"?>
<p:sldLayout xmlns:p="http://schemas.openxmlformats.org/presentationml/2006/main" type="title">
  <p:cSld name="Title Slide">
    <p:spTree>
      <p:nvGrpSpPr>
        <p:cNvPr id="1" name=""/>
        <p:cNvGrpSpPr/>
        <p:nvPr/>
      </p:nvGrpSpPr>
      <p:grpSpPr>
        <a:xfrm xmlns:a="http://schemas.openxmlformats.org/drawingml/2006/main"/>
      </p:grpSpPr>
    </p:spTree>
  </p:cSld>
</p:sldLayout>
</file>

<file path=ppt/slideMasters/_rels/slideMaster1.xml.rels>&#65279;<?xml version="1.0" encoding="utf-8"?><Relationships xmlns="http://schemas.openxmlformats.org/package/2006/relationships"><Relationship Type="http://schemas.openxmlformats.org/officeDocument/2006/relationships/theme" Target="/ppt/slideMasters/theme/theme2.xml" Id="Rb9c7f222c17f4f4a" /><Relationship Type="http://schemas.openxmlformats.org/officeDocument/2006/relationships/slideLayout" Target="/ppt/slideLayouts/slideLayout1.xml" Id="Rd1acd1bd45f64ef6" /></Relationships>
</file>

<file path=ppt/slideMasters/slideMaster1.xml><?xml version="1.0" encoding="utf-8"?>
<p:sldMaster xmlns:p="http://schemas.openxmlformats.org/presentationml/2006/main">
  <p:cSld name="Master">
    <p:bg>
      <p:bgRef idx="1001">
        <a:schemeClr xmlns:a="http://schemas.openxmlformats.org/drawingml/2006/main" val="bg1"/>
      </p:bgRef>
    </p:bg>
    <p:spTree>
      <p:nvGrpSpPr>
        <p:cNvPr id="1" name=""/>
        <p:cNvGrpSpPr/>
        <p:nvPr/>
      </p:nvGrpSpPr>
      <p:grpSpPr>
        <a:xfrm xmlns:a="http://schemas.openxmlformats.org/drawingml/2006/main"/>
      </p:grpSpPr>
    </p:spTree>
  </p:cSld>
  <p:clrMap bg1="lt1" tx1="dk1" bg2="lt2" tx2="dk2" accent1="accent1" accent2="accent2" accent3="accent3" accent4="accent4" accent5="accent5" accent6="accent6" hlink="hlink" folHlink="folHlink"/>
  <p:sldLayoutIdLst>
    <p:sldLayoutId xmlns:r="http://schemas.openxmlformats.org/officeDocument/2006/relationships" id="2147483649" r:id="Rd1acd1bd45f64ef6"/>
  </p:sldLayoutIdLst>
  <p:txStyles>
    <p:titleStyle>
      <a:lvl1pPr xmlns:a="http://schemas.openxmlformats.org/drawingml/2006/main" algn="l">
        <a:lnSpc>
          <a:spcPct val="90000"/>
        </a:lnSpc>
        <a:spcBef>
          <a:spcPts val="0"/>
        </a:spcBef>
        <a:buNone/>
        <a:defRPr sz="4400">
          <a:solidFill>
            <a:schemeClr val="tx1"/>
          </a:solidFill>
          <a:latin typeface="+mj-lt"/>
          <a:ea typeface="+mj-lt"/>
          <a:cs typeface="+mj-lt"/>
        </a:defRPr>
      </a:lvl1pPr>
    </p:titleStyle>
    <p:bodyStyle>
      <a:lvl1pPr xmlns:a="http://schemas.openxmlformats.org/drawingml/2006/main" marL="228600" indent="-228600" algn="l">
        <a:lnSpc>
          <a:spcPct val="90000"/>
        </a:lnSpc>
        <a:spcBef>
          <a:spcPts val="1000"/>
        </a:spcBef>
        <a:buChar char="•"/>
        <a:defRPr sz="2800">
          <a:solidFill>
            <a:schemeClr val="tx1"/>
          </a:solidFill>
          <a:latin typeface="+mn-lt"/>
          <a:ea typeface="+mn-lt"/>
          <a:cs typeface="+mn-lt"/>
        </a:defRPr>
      </a:lvl1pPr>
      <a:lvl2pPr xmlns:a="http://schemas.openxmlformats.org/drawingml/2006/main" marL="685800" indent="-228600" algn="l">
        <a:lnSpc>
          <a:spcPct val="90000"/>
        </a:lnSpc>
        <a:spcBef>
          <a:spcPts val="500"/>
        </a:spcBef>
        <a:buChar char="•"/>
        <a:defRPr sz="2400">
          <a:solidFill>
            <a:schemeClr val="tx1"/>
          </a:solidFill>
          <a:latin typeface="+mn-lt"/>
          <a:ea typeface="+mn-lt"/>
          <a:cs typeface="+mn-lt"/>
        </a:defRPr>
      </a:lvl2pPr>
      <a:lvl3pPr xmlns:a="http://schemas.openxmlformats.org/drawingml/2006/main" marL="1143000" indent="-228600" algn="l">
        <a:lnSpc>
          <a:spcPct val="90000"/>
        </a:lnSpc>
        <a:spcBef>
          <a:spcPts val="500"/>
        </a:spcBef>
        <a:buChar char="•"/>
        <a:defRPr sz="2000">
          <a:solidFill>
            <a:schemeClr val="tx1"/>
          </a:solidFill>
          <a:latin typeface="+mn-lt"/>
          <a:ea typeface="+mn-lt"/>
          <a:cs typeface="+mn-lt"/>
        </a:defRPr>
      </a:lvl3pPr>
      <a:lvl4pPr xmlns:a="http://schemas.openxmlformats.org/drawingml/2006/main" marL="1600200" indent="-228600" algn="l">
        <a:lnSpc>
          <a:spcPct val="90000"/>
        </a:lnSpc>
        <a:spcBef>
          <a:spcPts val="500"/>
        </a:spcBef>
        <a:buChar char="•"/>
        <a:defRPr sz="1800">
          <a:solidFill>
            <a:schemeClr val="tx1"/>
          </a:solidFill>
          <a:latin typeface="+mn-lt"/>
          <a:ea typeface="+mn-lt"/>
          <a:cs typeface="+mn-lt"/>
        </a:defRPr>
      </a:lvl4pPr>
      <a:lvl5pPr xmlns:a="http://schemas.openxmlformats.org/drawingml/2006/main" marL="2057400" indent="-228600" algn="l">
        <a:lnSpc>
          <a:spcPct val="90000"/>
        </a:lnSpc>
        <a:spcBef>
          <a:spcPts val="500"/>
        </a:spcBef>
        <a:buChar char="•"/>
        <a:defRPr sz="1800">
          <a:solidFill>
            <a:schemeClr val="tx1"/>
          </a:solidFill>
          <a:latin typeface="+mn-lt"/>
          <a:ea typeface="+mn-lt"/>
          <a:cs typeface="+mn-lt"/>
        </a:defRPr>
      </a:lvl5pPr>
      <a:lvl6pPr xmlns:a="http://schemas.openxmlformats.org/drawingml/2006/main" marL="2514600" indent="-228600" algn="l">
        <a:lnSpc>
          <a:spcPct val="90000"/>
        </a:lnSpc>
        <a:spcBef>
          <a:spcPts val="500"/>
        </a:spcBef>
        <a:buChar char="•"/>
        <a:defRPr sz="1800">
          <a:solidFill>
            <a:schemeClr val="tx1"/>
          </a:solidFill>
          <a:latin typeface="+mn-lt"/>
          <a:ea typeface="+mn-lt"/>
          <a:cs typeface="+mn-lt"/>
        </a:defRPr>
      </a:lvl6pPr>
      <a:lvl7pPr xmlns:a="http://schemas.openxmlformats.org/drawingml/2006/main" marL="2971800" indent="-228600" algn="l">
        <a:lnSpc>
          <a:spcPct val="90000"/>
        </a:lnSpc>
        <a:spcBef>
          <a:spcPts val="500"/>
        </a:spcBef>
        <a:buChar char="•"/>
        <a:defRPr sz="1800">
          <a:solidFill>
            <a:schemeClr val="tx1"/>
          </a:solidFill>
          <a:latin typeface="+mn-lt"/>
          <a:ea typeface="+mn-lt"/>
          <a:cs typeface="+mn-lt"/>
        </a:defRPr>
      </a:lvl7pPr>
      <a:lvl8pPr xmlns:a="http://schemas.openxmlformats.org/drawingml/2006/main" marL="3429000" indent="-228600" algn="l">
        <a:lnSpc>
          <a:spcPct val="90000"/>
        </a:lnSpc>
        <a:spcBef>
          <a:spcPts val="500"/>
        </a:spcBef>
        <a:buChar char="•"/>
        <a:defRPr sz="1800">
          <a:solidFill>
            <a:schemeClr val="tx1"/>
          </a:solidFill>
          <a:latin typeface="+mn-lt"/>
          <a:ea typeface="+mn-lt"/>
          <a:cs typeface="+mn-lt"/>
        </a:defRPr>
      </a:lvl8pPr>
      <a:lvl9pPr xmlns:a="http://schemas.openxmlformats.org/drawingml/2006/main" marL="3886200" indent="-228600" algn="l">
        <a:lnSpc>
          <a:spcPct val="90000"/>
        </a:lnSpc>
        <a:spcBef>
          <a:spcPts val="500"/>
        </a:spcBef>
        <a:buChar char="•"/>
        <a:defRPr sz="1800">
          <a:solidFill>
            <a:schemeClr val="tx1"/>
          </a:solidFill>
          <a:latin typeface="+mn-lt"/>
          <a:ea typeface="+mn-lt"/>
          <a:cs typeface="+mn-lt"/>
        </a:defRPr>
      </a:lvl9pPr>
    </p:bodyStyle>
    <p:otherStyle>
      <a:lvl1pPr xmlns:a="http://schemas.openxmlformats.org/drawingml/2006/main" marL="0" algn="l">
        <a:buNone/>
        <a:defRPr sz="1800">
          <a:solidFill>
            <a:schemeClr val="tx1"/>
          </a:solidFill>
          <a:latin typeface="+mn-lt"/>
          <a:ea typeface="+mn-lt"/>
          <a:cs typeface="+mn-lt"/>
        </a:defRPr>
      </a:lvl1pPr>
      <a:lvl2pPr xmlns:a="http://schemas.openxmlformats.org/drawingml/2006/main" marL="457200" algn="l">
        <a:buNone/>
        <a:defRPr sz="1800">
          <a:solidFill>
            <a:schemeClr val="tx1"/>
          </a:solidFill>
          <a:latin typeface="+mn-lt"/>
          <a:ea typeface="+mn-lt"/>
          <a:cs typeface="+mn-lt"/>
        </a:defRPr>
      </a:lvl2pPr>
      <a:lvl3pPr xmlns:a="http://schemas.openxmlformats.org/drawingml/2006/main" marL="914400" algn="l">
        <a:buNone/>
        <a:defRPr sz="1800">
          <a:solidFill>
            <a:schemeClr val="tx1"/>
          </a:solidFill>
          <a:latin typeface="+mn-lt"/>
          <a:ea typeface="+mn-lt"/>
          <a:cs typeface="+mn-lt"/>
        </a:defRPr>
      </a:lvl3pPr>
      <a:lvl4pPr xmlns:a="http://schemas.openxmlformats.org/drawingml/2006/main" marL="1371600" algn="l">
        <a:buNone/>
        <a:defRPr sz="1800">
          <a:solidFill>
            <a:schemeClr val="tx1"/>
          </a:solidFill>
          <a:latin typeface="+mn-lt"/>
          <a:ea typeface="+mn-lt"/>
          <a:cs typeface="+mn-lt"/>
        </a:defRPr>
      </a:lvl4pPr>
      <a:lvl5pPr xmlns:a="http://schemas.openxmlformats.org/drawingml/2006/main" marL="1828800" algn="l">
        <a:buNone/>
        <a:defRPr sz="1800">
          <a:solidFill>
            <a:schemeClr val="tx1"/>
          </a:solidFill>
          <a:latin typeface="+mn-lt"/>
          <a:ea typeface="+mn-lt"/>
          <a:cs typeface="+mn-lt"/>
        </a:defRPr>
      </a:lvl5pPr>
      <a:lvl6pPr xmlns:a="http://schemas.openxmlformats.org/drawingml/2006/main" marL="2286000" algn="l">
        <a:buNone/>
        <a:defRPr sz="1800">
          <a:solidFill>
            <a:schemeClr val="tx1"/>
          </a:solidFill>
          <a:latin typeface="+mn-lt"/>
          <a:ea typeface="+mn-lt"/>
          <a:cs typeface="+mn-lt"/>
        </a:defRPr>
      </a:lvl6pPr>
      <a:lvl7pPr xmlns:a="http://schemas.openxmlformats.org/drawingml/2006/main" marL="2743200" algn="l">
        <a:buNone/>
        <a:defRPr sz="1800">
          <a:solidFill>
            <a:schemeClr val="tx1"/>
          </a:solidFill>
          <a:latin typeface="+mn-lt"/>
          <a:ea typeface="+mn-lt"/>
          <a:cs typeface="+mn-lt"/>
        </a:defRPr>
      </a:lvl7pPr>
      <a:lvl8pPr xmlns:a="http://schemas.openxmlformats.org/drawingml/2006/main" marL="3200400" algn="l">
        <a:buNone/>
        <a:defRPr sz="1800">
          <a:solidFill>
            <a:schemeClr val="tx1"/>
          </a:solidFill>
          <a:latin typeface="+mn-lt"/>
          <a:ea typeface="+mn-lt"/>
          <a:cs typeface="+mn-lt"/>
        </a:defRPr>
      </a:lvl8pPr>
      <a:lvl9pPr xmlns:a="http://schemas.openxmlformats.org/drawingml/2006/main" marL="3657600" algn="l">
        <a:buNone/>
        <a:defRPr sz="1800">
          <a:solidFill>
            <a:schemeClr val="tx1"/>
          </a:solidFill>
          <a:latin typeface="+mn-lt"/>
          <a:ea typeface="+mn-lt"/>
          <a:cs typeface="+mn-lt"/>
        </a:defRPr>
      </a:lvl9pPr>
    </p:otherStyle>
  </p:txStyles>
</p:sldMaster>
</file>

<file path=ppt/slideMasters/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ppt/slides/_rels/slide1.xml.rels>&#65279;<?xml version="1.0" encoding="utf-8"?><Relationships xmlns="http://schemas.openxmlformats.org/package/2006/relationships"><Relationship Type="http://schemas.openxmlformats.org/officeDocument/2006/relationships/slideLayout" Target="/ppt/slideLayouts/slideLayout1.xml" Id="Rccfa374a4a20497b" /><Relationship Type="http://schemas.openxmlformats.org/officeDocument/2006/relationships/notesSlide" Target="/ppt/notesSlides/notesSlide1.xml" Id="R297aa472c2314129" /></Relationships>
</file>

<file path=ppt/slides/_rels/slide2.xml.rels>&#65279;<?xml version="1.0" encoding="utf-8"?><Relationships xmlns="http://schemas.openxmlformats.org/package/2006/relationships"><Relationship Type="http://schemas.openxmlformats.org/officeDocument/2006/relationships/slideLayout" Target="/ppt/slideLayouts/slideLayout1.xml" Id="R63e84fd65c3a42e5" /><Relationship Type="http://schemas.openxmlformats.org/officeDocument/2006/relationships/notesSlide" Target="/ppt/notesSlides/notesSlide2.xml" Id="Rcd3b5907a23c4db6" /></Relationships>
</file>

<file path=ppt/slides/_rels/slide3.xml.rels>&#65279;<?xml version="1.0" encoding="utf-8"?><Relationships xmlns="http://schemas.openxmlformats.org/package/2006/relationships"><Relationship Type="http://schemas.openxmlformats.org/officeDocument/2006/relationships/slideLayout" Target="/ppt/slideLayouts/slideLayout1.xml" Id="R9ef90d536d3540f9" /><Relationship Type="http://schemas.openxmlformats.org/officeDocument/2006/relationships/notesSlide" Target="/ppt/notesSlides/notesSlide3.xml" Id="R7ea2f4e38b954320" /></Relationships>
</file>

<file path=ppt/slides/slide1.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11" name="">
            <a:extLst xmlns:a="http://schemas.openxmlformats.org/drawingml/2006/main">
              <a:ext uri="{FF2B5EF4-FFF2-40B4-BE49-F238E27FC236}">
                <a16:creationId xmlns:a16="http://schemas.microsoft.com/office/drawing/2014/main" id="{1497E0ED-CB63-445B-9BEF-84B27C7DA313}"/>
              </a:ext>
            </a:extLst>
          </p:cNvPr>
          <p:cNvSpPr>
            <a:spLocks xmlns:a="http://schemas.openxmlformats.org/drawingml/2006/main" noGrp="1"/>
          </p:cNvSpPr>
          <p:nvPr/>
        </p:nvSpPr>
        <p:spPr>
          <a:xfrm xmlns:a="http://schemas.openxmlformats.org/drawingml/2006/main">
            <a:off x="571500" y="23812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07E76"/>
                </a:solidFill>
                <a:latin typeface="Helvetica Neue"/>
                <a:ea typeface="Helvetica Neue"/>
                <a:cs typeface="Helvetica Neue"/>
              </a:defRPr>
            </a:pPr>
            <a:r>
              <a:rPr sz="1200" b="1">
                <a:solidFill>
                  <a:srgbClr val="007E76"/>
                </a:solidFill>
                <a:latin typeface="Helvetica Neue"/>
                <a:ea typeface="Helvetica Neue"/>
                <a:cs typeface="Helvetica Neue"/>
              </a:rPr>
              <a:t>COO PROPOSAL / MANAGED KONG API + AI</a:t>
            </a:r>
          </a:p>
        </p:txBody>
      </p:sp>
      <p:sp>
        <p:nvSpPr>
          <p:cNvPr id="2" name="">
            <a:extLst xmlns:a="http://schemas.openxmlformats.org/drawingml/2006/main">
              <a:ext uri="{FF2B5EF4-FFF2-40B4-BE49-F238E27FC236}">
                <a16:creationId xmlns:a16="http://schemas.microsoft.com/office/drawing/2014/main" id="{94F55A51-A4E0-4F63-BB9A-D66DD530D0A2}"/>
              </a:ext>
            </a:extLst>
          </p:cNvPr>
          <p:cNvSpPr>
            <a:spLocks xmlns:a="http://schemas.openxmlformats.org/drawingml/2006/main" noGrp="1"/>
          </p:cNvSpPr>
          <p:nvPr/>
        </p:nvSpPr>
        <p:spPr>
          <a:xfrm xmlns:a="http://schemas.openxmlformats.org/drawingml/2006/main">
            <a:off x="571500" y="70485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02D35"/>
                </a:solidFill>
                <a:latin typeface="Helvetica Neue"/>
                <a:ea typeface="Helvetica Neue"/>
                <a:cs typeface="Helvetica Neue"/>
              </a:defRPr>
            </a:pPr>
            <a:r>
              <a:rPr sz="3150" b="1">
                <a:solidFill>
                  <a:srgbClr val="102D35"/>
                </a:solidFill>
                <a:latin typeface="Helvetica Neue"/>
                <a:ea typeface="Helvetica Neue"/>
                <a:cs typeface="Helvetica Neue"/>
              </a:rPr>
              <a:t>Financial ROI requires benefits beyond cost replacement</a:t>
            </a:r>
          </a:p>
        </p:txBody>
      </p:sp>
      <p:sp>
        <p:nvSpPr>
          <p:cNvPr id="3" name="">
            <a:extLst xmlns:a="http://schemas.openxmlformats.org/drawingml/2006/main">
              <a:ext uri="{FF2B5EF4-FFF2-40B4-BE49-F238E27FC236}">
                <a16:creationId xmlns:a16="http://schemas.microsoft.com/office/drawing/2014/main" id="{80227938-9FAF-447C-B4AB-01A0C779B051}"/>
              </a:ext>
            </a:extLst>
          </p:cNvPr>
          <p:cNvSpPr>
            <a:spLocks xmlns:a="http://schemas.openxmlformats.org/drawingml/2006/main" noGrp="1"/>
          </p:cNvSpPr>
          <p:nvPr/>
        </p:nvSpPr>
        <p:spPr>
          <a:xfrm xmlns:a="http://schemas.openxmlformats.org/drawingml/2006/main">
            <a:off x="11239500" y="645795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6C"/>
                </a:solidFill>
                <a:latin typeface="Helvetica Neue"/>
                <a:ea typeface="Helvetica Neue"/>
                <a:cs typeface="Helvetica Neue"/>
              </a:defRPr>
            </a:pPr>
            <a:r>
              <a:rPr sz="1200" b="0">
                <a:solidFill>
                  <a:srgbClr val="52676C"/>
                </a:solidFill>
                <a:latin typeface="Helvetica Neue"/>
                <a:ea typeface="Helvetica Neue"/>
                <a:cs typeface="Helvetica Neue"/>
              </a:rPr>
              <a:t>01</a:t>
            </a:r>
          </a:p>
        </p:txBody>
      </p:sp>
      <p:graphicFrame>
        <p:nvGraphicFramePr>
          <p:cNvPr id="14" name=""/>
          <p:cNvGraphicFramePr/>
          <p:nvPr/>
        </p:nvGraphicFramePr>
        <p:xfrm>
          <a:off xmlns:a="http://schemas.openxmlformats.org/drawingml/2006/main" x="571500" y="1828800"/>
          <a:ext xmlns:a="http://schemas.openxmlformats.org/drawingml/2006/main" cx="7181850" cy="2762250"/>
        </p:xfrm>
        <a:graphic xmlns:a="http://schemas.openxmlformats.org/drawingml/2006/main">
          <a:graphicData uri="http://schemas.openxmlformats.org/drawingml/2006/table">
            <a:tbl>
              <a:tblPr/>
              <a:tblGrid>
                <a:gridCol w="5467350"/>
                <a:gridCol w="1714500"/>
              </a:tblGrid>
              <a:tr h="552450">
                <a:tc>
                  <a:txBody>
                    <a:bodyPr/>
                    <a:lstStyle/>
                    <a:p>
                      <a:r>
                        <a:rPr sz="1650" b="1">
                          <a:solidFill>
                            <a:srgbClr val="FFFFFF"/>
                          </a:solidFill>
                          <a:latin typeface="Helvetica Neue"/>
                          <a:ea typeface="Helvetica Neue"/>
                          <a:cs typeface="Helvetica Neue"/>
                        </a:rPr>
                        <a:t>Three-year cost baseline</a:t>
                      </a:r>
                    </a:p>
                  </a:txBody>
                  <a:tcPr marL="91440" marR="91440" marT="45720" marB="45720">
                    <a:solidFill>
                      <a:srgbClr val="102D35"/>
                    </a:solidFill>
                  </a:tcPr>
                </a:tc>
                <a:tc>
                  <a:txBody>
                    <a:bodyPr/>
                    <a:lstStyle/>
                    <a:p>
                      <a:r>
                        <a:rPr sz="1650" b="1">
                          <a:solidFill>
                            <a:srgbClr val="FFFFFF"/>
                          </a:solidFill>
                          <a:latin typeface="Helvetica Neue"/>
                          <a:ea typeface="Helvetica Neue"/>
                          <a:cs typeface="Helvetica Neue"/>
                        </a:rPr>
                        <a:t>Amount</a:t>
                      </a:r>
                    </a:p>
                  </a:txBody>
                  <a:tcPr marL="91440" marR="91440" marT="45720" marB="45720">
                    <a:solidFill>
                      <a:srgbClr val="102D35"/>
                    </a:solidFill>
                  </a:tcPr>
                </a:tc>
              </a:tr>
              <a:tr h="552450">
                <a:tc>
                  <a:txBody>
                    <a:bodyPr/>
                    <a:lstStyle/>
                    <a:p>
                      <a:r>
                        <a:rPr sz="1650" b="0">
                          <a:solidFill>
                            <a:srgbClr val="102D35"/>
                          </a:solidFill>
                          <a:latin typeface="Helvetica Neue"/>
                          <a:ea typeface="Helvetica Neue"/>
                          <a:cs typeface="Helvetica Neue"/>
                        </a:rPr>
                        <a:t>Existing gateway infrastructure + operations</a:t>
                      </a:r>
                    </a:p>
                  </a:txBody>
                  <a:tcPr marL="91440" marR="91440" marT="45720" marB="45720">
                    <a:solidFill>
                      <a:srgbClr val="FFFFFF"/>
                    </a:solidFill>
                  </a:tcPr>
                </a:tc>
                <a:tc>
                  <a:txBody>
                    <a:bodyPr/>
                    <a:lstStyle/>
                    <a:p>
                      <a:r>
                        <a:rPr sz="1650" b="0">
                          <a:solidFill>
                            <a:srgbClr val="102D35"/>
                          </a:solidFill>
                          <a:latin typeface="Helvetica Neue"/>
                          <a:ea typeface="Helvetica Neue"/>
                          <a:cs typeface="Helvetica Neue"/>
                        </a:rPr>
                        <a:t>&lt; $300k</a:t>
                      </a:r>
                    </a:p>
                  </a:txBody>
                  <a:tcPr marL="91440" marR="91440" marT="45720" marB="45720">
                    <a:solidFill>
                      <a:srgbClr val="FFFFFF"/>
                    </a:solidFill>
                  </a:tcPr>
                </a:tc>
              </a:tr>
              <a:tr h="552450">
                <a:tc>
                  <a:txBody>
                    <a:bodyPr/>
                    <a:lstStyle/>
                    <a:p>
                      <a:r>
                        <a:rPr sz="1650" b="0">
                          <a:solidFill>
                            <a:srgbClr val="102D35"/>
                          </a:solidFill>
                          <a:latin typeface="Helvetica Neue"/>
                          <a:ea typeface="Helvetica Neue"/>
                          <a:cs typeface="Helvetica Neue"/>
                        </a:rPr>
                        <a:t>Existing documentation at $35k per year</a:t>
                      </a:r>
                    </a:p>
                  </a:txBody>
                  <a:tcPr marL="91440" marR="91440" marT="45720" marB="45720">
                    <a:solidFill>
                      <a:srgbClr val="FFFFFF"/>
                    </a:solidFill>
                  </a:tcPr>
                </a:tc>
                <a:tc>
                  <a:txBody>
                    <a:bodyPr/>
                    <a:lstStyle/>
                    <a:p>
                      <a:r>
                        <a:rPr sz="1650" b="0">
                          <a:solidFill>
                            <a:srgbClr val="102D35"/>
                          </a:solidFill>
                          <a:latin typeface="Helvetica Neue"/>
                          <a:ea typeface="Helvetica Neue"/>
                          <a:cs typeface="Helvetica Neue"/>
                        </a:rPr>
                        <a:t>$105k</a:t>
                      </a:r>
                    </a:p>
                  </a:txBody>
                  <a:tcPr marL="91440" marR="91440" marT="45720" marB="45720">
                    <a:solidFill>
                      <a:srgbClr val="FFFFFF"/>
                    </a:solidFill>
                  </a:tcPr>
                </a:tc>
              </a:tr>
              <a:tr h="552450">
                <a:tc>
                  <a:txBody>
                    <a:bodyPr/>
                    <a:lstStyle/>
                    <a:p>
                      <a:r>
                        <a:rPr sz="1650" b="0">
                          <a:solidFill>
                            <a:srgbClr val="102D35"/>
                          </a:solidFill>
                          <a:latin typeface="Helvetica Neue"/>
                          <a:ea typeface="Helvetica Neue"/>
                          <a:cs typeface="Helvetica Neue"/>
                        </a:rPr>
                        <a:t>Combined current baseline</a:t>
                      </a:r>
                    </a:p>
                  </a:txBody>
                  <a:tcPr marL="91440" marR="91440" marT="45720" marB="45720">
                    <a:solidFill>
                      <a:srgbClr val="FFFFFF"/>
                    </a:solidFill>
                  </a:tcPr>
                </a:tc>
                <a:tc>
                  <a:txBody>
                    <a:bodyPr/>
                    <a:lstStyle/>
                    <a:p>
                      <a:r>
                        <a:rPr sz="1650" b="0">
                          <a:solidFill>
                            <a:srgbClr val="102D35"/>
                          </a:solidFill>
                          <a:latin typeface="Helvetica Neue"/>
                          <a:ea typeface="Helvetica Neue"/>
                          <a:cs typeface="Helvetica Neue"/>
                        </a:rPr>
                        <a:t>&lt; $405k</a:t>
                      </a:r>
                    </a:p>
                  </a:txBody>
                  <a:tcPr marL="91440" marR="91440" marT="45720" marB="45720">
                    <a:solidFill>
                      <a:srgbClr val="FFFFFF"/>
                    </a:solidFill>
                  </a:tcPr>
                </a:tc>
              </a:tr>
              <a:tr h="552450">
                <a:tc>
                  <a:txBody>
                    <a:bodyPr/>
                    <a:lstStyle/>
                    <a:p>
                      <a:r>
                        <a:rPr sz="1650" b="0">
                          <a:solidFill>
                            <a:srgbClr val="102D35"/>
                          </a:solidFill>
                          <a:latin typeface="Helvetica Neue"/>
                          <a:ea typeface="Helvetica Neue"/>
                          <a:cs typeface="Helvetica Neue"/>
                        </a:rPr>
                        <a:t>Proposed managed Kong TCO</a:t>
                      </a:r>
                    </a:p>
                  </a:txBody>
                  <a:tcPr marL="91440" marR="91440" marT="45720" marB="45720">
                    <a:solidFill>
                      <a:srgbClr val="FFFFFF"/>
                    </a:solidFill>
                  </a:tcPr>
                </a:tc>
                <a:tc>
                  <a:txBody>
                    <a:bodyPr/>
                    <a:lstStyle/>
                    <a:p>
                      <a:r>
                        <a:rPr sz="1650" b="0">
                          <a:solidFill>
                            <a:srgbClr val="102D35"/>
                          </a:solidFill>
                          <a:latin typeface="Helvetica Neue"/>
                          <a:ea typeface="Helvetica Neue"/>
                          <a:cs typeface="Helvetica Neue"/>
                        </a:rPr>
                        <a:t>$800k</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7D1B7A42-B806-49E7-82F4-D88541DE8569}"/>
              </a:ext>
            </a:extLst>
          </p:cNvPr>
          <p:cNvSpPr>
            <a:spLocks xmlns:a="http://schemas.openxmlformats.org/drawingml/2006/main" noGrp="1"/>
          </p:cNvSpPr>
          <p:nvPr/>
        </p:nvSpPr>
        <p:spPr>
          <a:xfrm xmlns:a="http://schemas.openxmlformats.org/drawingml/2006/main">
            <a:off x="8334375" y="1866900"/>
            <a:ext cx="3333750" cy="7334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4200" b="1">
                <a:solidFill>
                  <a:srgbClr val="007E76"/>
                </a:solidFill>
                <a:latin typeface="Helvetica Neue"/>
                <a:ea typeface="Helvetica Neue"/>
                <a:cs typeface="Helvetica Neue"/>
              </a:defRPr>
            </a:pPr>
            <a:r>
              <a:rPr sz="4200" b="1">
                <a:solidFill>
                  <a:srgbClr val="007E76"/>
                </a:solidFill>
                <a:latin typeface="Helvetica Neue"/>
                <a:ea typeface="Helvetica Neue"/>
                <a:cs typeface="Helvetica Neue"/>
              </a:rPr>
              <a:t>&gt; $395k</a:t>
            </a:r>
          </a:p>
        </p:txBody>
      </p:sp>
      <p:sp>
        <p:nvSpPr>
          <p:cNvPr id="6" name="">
            <a:extLst xmlns:a="http://schemas.openxmlformats.org/drawingml/2006/main">
              <a:ext uri="{FF2B5EF4-FFF2-40B4-BE49-F238E27FC236}">
                <a16:creationId xmlns:a16="http://schemas.microsoft.com/office/drawing/2014/main" id="{AA21A1A7-9106-4CD2-B0B7-47130E4F1968}"/>
              </a:ext>
            </a:extLst>
          </p:cNvPr>
          <p:cNvSpPr>
            <a:spLocks xmlns:a="http://schemas.openxmlformats.org/drawingml/2006/main" noGrp="1"/>
          </p:cNvSpPr>
          <p:nvPr/>
        </p:nvSpPr>
        <p:spPr>
          <a:xfrm xmlns:a="http://schemas.openxmlformats.org/drawingml/2006/main">
            <a:off x="8334375" y="2667000"/>
            <a:ext cx="3190875" cy="828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02D35"/>
                </a:solidFill>
                <a:latin typeface="Helvetica Neue"/>
                <a:ea typeface="Helvetica Neue"/>
                <a:cs typeface="Helvetica Neue"/>
              </a:defRPr>
            </a:pPr>
            <a:r>
              <a:rPr sz="2025" b="1">
                <a:solidFill>
                  <a:srgbClr val="102D35"/>
                </a:solidFill>
                <a:latin typeface="Helvetica Neue"/>
                <a:ea typeface="Helvetica Neue"/>
                <a:cs typeface="Helvetica Neue"/>
              </a:rPr>
              <a:t>Additional benefits needed</a:t>
            </a:r>
          </a:p>
          <a:p xmlns:a="http://schemas.openxmlformats.org/drawingml/2006/main">
            <a:pPr>
              <a:defRPr sz="2025" b="1">
                <a:solidFill>
                  <a:srgbClr val="102D35"/>
                </a:solidFill>
                <a:latin typeface="Helvetica Neue"/>
                <a:ea typeface="Helvetica Neue"/>
                <a:cs typeface="Helvetica Neue"/>
              </a:defRPr>
            </a:pPr>
            <a:r>
              <a:rPr sz="2025" b="1">
                <a:solidFill>
                  <a:srgbClr val="102D35"/>
                </a:solidFill>
                <a:latin typeface="Helvetica Neue"/>
                <a:ea typeface="Helvetica Neue"/>
                <a:cs typeface="Helvetica Neue"/>
              </a:rPr>
              <a:t>for three-year break-even</a:t>
            </a:r>
          </a:p>
        </p:txBody>
      </p:sp>
      <p:sp>
        <p:nvSpPr>
          <p:cNvPr id="7" name="">
            <a:extLst xmlns:a="http://schemas.openxmlformats.org/drawingml/2006/main">
              <a:ext uri="{FF2B5EF4-FFF2-40B4-BE49-F238E27FC236}">
                <a16:creationId xmlns:a16="http://schemas.microsoft.com/office/drawing/2014/main" id="{D440447F-7583-4A20-A77C-80CE54571AC9}"/>
              </a:ext>
            </a:extLst>
          </p:cNvPr>
          <p:cNvSpPr>
            <a:spLocks xmlns:a="http://schemas.openxmlformats.org/drawingml/2006/main" noGrp="1"/>
          </p:cNvSpPr>
          <p:nvPr/>
        </p:nvSpPr>
        <p:spPr>
          <a:xfrm xmlns:a="http://schemas.openxmlformats.org/drawingml/2006/main">
            <a:off x="8334375" y="3667125"/>
            <a:ext cx="3095625" cy="9525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0">
                <a:solidFill>
                  <a:srgbClr val="52676C"/>
                </a:solidFill>
                <a:latin typeface="Helvetica Neue"/>
                <a:ea typeface="Helvetica Neue"/>
                <a:cs typeface="Helvetica Neue"/>
              </a:defRPr>
            </a:pPr>
            <a:r>
              <a:rPr sz="1800" b="0">
                <a:solidFill>
                  <a:srgbClr val="52676C"/>
                </a:solidFill>
                <a:latin typeface="Helvetica Neue"/>
                <a:ea typeface="Helvetica Neue"/>
                <a:cs typeface="Helvetica Neue"/>
              </a:rPr>
              <a:t>More than $132k per year on average, assuming full retirement of current costs.</a:t>
            </a:r>
          </a:p>
        </p:txBody>
      </p:sp>
      <p:sp>
        <p:nvSpPr>
          <p:cNvPr id="8" name="">
            <a:extLst xmlns:a="http://schemas.openxmlformats.org/drawingml/2006/main">
              <a:ext uri="{FF2B5EF4-FFF2-40B4-BE49-F238E27FC236}">
                <a16:creationId xmlns:a16="http://schemas.microsoft.com/office/drawing/2014/main" id="{F2DE3B0A-1692-41A1-BA57-F135548C2547}"/>
              </a:ext>
            </a:extLst>
          </p:cNvPr>
          <p:cNvSpPr>
            <a:spLocks xmlns:a="http://schemas.openxmlformats.org/drawingml/2006/main" noGrp="1"/>
          </p:cNvSpPr>
          <p:nvPr/>
        </p:nvSpPr>
        <p:spPr>
          <a:xfrm xmlns:a="http://schemas.openxmlformats.org/drawingml/2006/main">
            <a:off x="571500" y="4829175"/>
            <a:ext cx="11001375" cy="4476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025" b="1">
                <a:solidFill>
                  <a:srgbClr val="102D35"/>
                </a:solidFill>
                <a:latin typeface="Helvetica Neue"/>
                <a:ea typeface="Helvetica Neue"/>
                <a:cs typeface="Helvetica Neue"/>
              </a:defRPr>
            </a:pPr>
            <a:r>
              <a:rPr sz="2025" b="1">
                <a:solidFill>
                  <a:srgbClr val="102D35"/>
                </a:solidFill>
                <a:latin typeface="Helvetica Neue"/>
                <a:ea typeface="Helvetica Neue"/>
                <a:cs typeface="Helvetica Neue"/>
              </a:rPr>
              <a:t>ROI = (costs avoided + additional validated benefits − $800k) ÷ $800k</a:t>
            </a:r>
          </a:p>
        </p:txBody>
      </p:sp>
      <p:sp>
        <p:nvSpPr>
          <p:cNvPr id="9" name="">
            <a:extLst xmlns:a="http://schemas.openxmlformats.org/drawingml/2006/main">
              <a:ext uri="{FF2B5EF4-FFF2-40B4-BE49-F238E27FC236}">
                <a16:creationId xmlns:a16="http://schemas.microsoft.com/office/drawing/2014/main" id="{B10DC238-4722-44C4-99B0-F466871B414E}"/>
              </a:ext>
            </a:extLst>
          </p:cNvPr>
          <p:cNvSpPr>
            <a:spLocks xmlns:a="http://schemas.openxmlformats.org/drawingml/2006/main" noGrp="1"/>
          </p:cNvSpPr>
          <p:nvPr/>
        </p:nvSpPr>
        <p:spPr>
          <a:xfrm xmlns:a="http://schemas.openxmlformats.org/drawingml/2006/main">
            <a:off x="571500" y="5314950"/>
            <a:ext cx="10858500" cy="5905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725" b="0">
                <a:solidFill>
                  <a:srgbClr val="52676C"/>
                </a:solidFill>
                <a:latin typeface="Helvetica Neue"/>
                <a:ea typeface="Helvetica Neue"/>
                <a:cs typeface="Helvetica Neue"/>
              </a:defRPr>
            </a:pPr>
            <a:r>
              <a:rPr sz="1725" b="0">
                <a:solidFill>
                  <a:srgbClr val="52676C"/>
                </a:solidFill>
                <a:latin typeface="Helvetica Neue"/>
                <a:ea typeface="Helvetica Neue"/>
                <a:cs typeface="Helvetica Neue"/>
              </a:rPr>
              <a:t>Current evidence does not establish positive financial ROI. Qualitative benefits support the decision but do not create a financial return until validated and valued.</a:t>
            </a:r>
          </a:p>
        </p:txBody>
      </p:sp>
      <p:sp>
        <p:nvSpPr>
          <p:cNvPr id="10" name="">
            <a:extLst xmlns:a="http://schemas.openxmlformats.org/drawingml/2006/main">
              <a:ext uri="{FF2B5EF4-FFF2-40B4-BE49-F238E27FC236}">
                <a16:creationId xmlns:a16="http://schemas.microsoft.com/office/drawing/2014/main" id="{8797A1A3-EAF4-466D-A3BB-BA5CD80F069D}"/>
              </a:ext>
            </a:extLst>
          </p:cNvPr>
          <p:cNvSpPr>
            <a:spLocks xmlns:a="http://schemas.openxmlformats.org/drawingml/2006/main" noGrp="1"/>
          </p:cNvSpPr>
          <p:nvPr/>
        </p:nvSpPr>
        <p:spPr>
          <a:xfrm xmlns:a="http://schemas.openxmlformats.org/drawingml/2006/main">
            <a:off x="571500" y="6115050"/>
            <a:ext cx="10477500" cy="438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75" b="0">
                <a:solidFill>
                  <a:srgbClr val="52676C"/>
                </a:solidFill>
                <a:latin typeface="Helvetica Neue"/>
                <a:ea typeface="Helvetica Neue"/>
                <a:cs typeface="Helvetica Neue"/>
              </a:defRPr>
            </a:pPr>
            <a:r>
              <a:rPr sz="1275" b="0">
                <a:solidFill>
                  <a:srgbClr val="52676C"/>
                </a:solidFill>
                <a:latin typeface="Helvetica Neue"/>
                <a:ea typeface="Helvetica Neue"/>
                <a:cs typeface="Helvetica Neue"/>
              </a:rPr>
              <a:t>Assumptions: flat costs, $35k is annual and separate, full retirement from Year 1, and $800k is complete TCO. Transition overlap or retained costs increase the break-even requirement.</a:t>
            </a:r>
          </a:p>
        </p:txBody>
      </p:sp>
    </p:spTree>
    <p:extLst>
      <p:ext uri="{BB962C8B-B14F-4D97-AF65-F5344CB8AC3E}">
        <p14:creationId xmlns:p14="http://schemas.microsoft.com/office/powerpoint/2010/main" val="30491442"/>
      </p:ext>
    </p:extLst>
  </p:cSld>
</p:sld>
</file>

<file path=ppt/slides/slide2.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6" name="">
            <a:extLst xmlns:a="http://schemas.openxmlformats.org/drawingml/2006/main">
              <a:ext uri="{FF2B5EF4-FFF2-40B4-BE49-F238E27FC236}">
                <a16:creationId xmlns:a16="http://schemas.microsoft.com/office/drawing/2014/main" id="{2FA87476-2D94-4098-8E4B-90EE07B54258}"/>
              </a:ext>
            </a:extLst>
          </p:cNvPr>
          <p:cNvSpPr>
            <a:spLocks xmlns:a="http://schemas.openxmlformats.org/drawingml/2006/main" noGrp="1"/>
          </p:cNvSpPr>
          <p:nvPr/>
        </p:nvSpPr>
        <p:spPr>
          <a:xfrm xmlns:a="http://schemas.openxmlformats.org/drawingml/2006/main">
            <a:off x="571500" y="23812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07E76"/>
                </a:solidFill>
                <a:latin typeface="Helvetica Neue"/>
                <a:ea typeface="Helvetica Neue"/>
                <a:cs typeface="Helvetica Neue"/>
              </a:defRPr>
            </a:pPr>
            <a:r>
              <a:rPr sz="1200" b="1">
                <a:solidFill>
                  <a:srgbClr val="007E76"/>
                </a:solidFill>
                <a:latin typeface="Helvetica Neue"/>
                <a:ea typeface="Helvetica Neue"/>
                <a:cs typeface="Helvetica Neue"/>
              </a:rPr>
              <a:t>COO PROPOSAL / MANAGED KONG API + AI</a:t>
            </a:r>
          </a:p>
        </p:txBody>
      </p:sp>
      <p:sp>
        <p:nvSpPr>
          <p:cNvPr id="2" name="">
            <a:extLst xmlns:a="http://schemas.openxmlformats.org/drawingml/2006/main">
              <a:ext uri="{FF2B5EF4-FFF2-40B4-BE49-F238E27FC236}">
                <a16:creationId xmlns:a16="http://schemas.microsoft.com/office/drawing/2014/main" id="{5B61B8C7-1E26-46A1-B0D9-89C067BB7DFC}"/>
              </a:ext>
            </a:extLst>
          </p:cNvPr>
          <p:cNvSpPr>
            <a:spLocks xmlns:a="http://schemas.openxmlformats.org/drawingml/2006/main" noGrp="1"/>
          </p:cNvSpPr>
          <p:nvPr/>
        </p:nvSpPr>
        <p:spPr>
          <a:xfrm xmlns:a="http://schemas.openxmlformats.org/drawingml/2006/main">
            <a:off x="571500" y="70485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02D35"/>
                </a:solidFill>
                <a:latin typeface="Helvetica Neue"/>
                <a:ea typeface="Helvetica Neue"/>
                <a:cs typeface="Helvetica Neue"/>
              </a:defRPr>
            </a:pPr>
            <a:r>
              <a:rPr sz="3150" b="1">
                <a:solidFill>
                  <a:srgbClr val="102D35"/>
                </a:solidFill>
                <a:latin typeface="Helvetica Neue"/>
                <a:ea typeface="Helvetica Neue"/>
                <a:cs typeface="Helvetica Neue"/>
              </a:rPr>
              <a:t>Qualitative value: ownership, delivery and governance</a:t>
            </a:r>
          </a:p>
        </p:txBody>
      </p:sp>
      <p:sp>
        <p:nvSpPr>
          <p:cNvPr id="3" name="">
            <a:extLst xmlns:a="http://schemas.openxmlformats.org/drawingml/2006/main">
              <a:ext uri="{FF2B5EF4-FFF2-40B4-BE49-F238E27FC236}">
                <a16:creationId xmlns:a16="http://schemas.microsoft.com/office/drawing/2014/main" id="{7B126214-2B7A-438C-8021-7C47DED9863B}"/>
              </a:ext>
            </a:extLst>
          </p:cNvPr>
          <p:cNvSpPr>
            <a:spLocks xmlns:a="http://schemas.openxmlformats.org/drawingml/2006/main" noGrp="1"/>
          </p:cNvSpPr>
          <p:nvPr/>
        </p:nvSpPr>
        <p:spPr>
          <a:xfrm xmlns:a="http://schemas.openxmlformats.org/drawingml/2006/main">
            <a:off x="11239500" y="645795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6C"/>
                </a:solidFill>
                <a:latin typeface="Helvetica Neue"/>
                <a:ea typeface="Helvetica Neue"/>
                <a:cs typeface="Helvetica Neue"/>
              </a:defRPr>
            </a:pPr>
            <a:r>
              <a:rPr sz="1200" b="0">
                <a:solidFill>
                  <a:srgbClr val="52676C"/>
                </a:solidFill>
                <a:latin typeface="Helvetica Neue"/>
                <a:ea typeface="Helvetica Neue"/>
                <a:cs typeface="Helvetica Neue"/>
              </a:rPr>
              <a:t>02</a:t>
            </a:r>
          </a:p>
        </p:txBody>
      </p:sp>
      <p:graphicFrame>
        <p:nvGraphicFramePr>
          <p:cNvPr id="9" name=""/>
          <p:cNvGraphicFramePr/>
          <p:nvPr/>
        </p:nvGraphicFramePr>
        <p:xfrm>
          <a:off xmlns:a="http://schemas.openxmlformats.org/drawingml/2006/main" x="571500" y="1781175"/>
          <a:ext xmlns:a="http://schemas.openxmlformats.org/drawingml/2006/main" cx="11049000" cy="3829050"/>
        </p:xfrm>
        <a:graphic xmlns:a="http://schemas.openxmlformats.org/drawingml/2006/main">
          <a:graphicData uri="http://schemas.openxmlformats.org/drawingml/2006/table">
            <a:tbl>
              <a:tblPr/>
              <a:tblGrid>
                <a:gridCol w="2524125"/>
                <a:gridCol w="4905375"/>
                <a:gridCol w="3619500"/>
              </a:tblGrid>
              <a:tr h="638175">
                <a:tc>
                  <a:txBody>
                    <a:bodyPr/>
                    <a:lstStyle/>
                    <a:p>
                      <a:r>
                        <a:rPr sz="1650" b="1">
                          <a:solidFill>
                            <a:srgbClr val="FFFFFF"/>
                          </a:solidFill>
                          <a:latin typeface="Helvetica Neue"/>
                          <a:ea typeface="Helvetica Neue"/>
                          <a:cs typeface="Helvetica Neue"/>
                        </a:rPr>
                        <a:t>Value to the COO</a:t>
                      </a:r>
                    </a:p>
                  </a:txBody>
                  <a:tcPr marL="91440" marR="91440" marT="45720" marB="45720">
                    <a:solidFill>
                      <a:srgbClr val="102D35"/>
                    </a:solidFill>
                  </a:tcPr>
                </a:tc>
                <a:tc>
                  <a:txBody>
                    <a:bodyPr/>
                    <a:lstStyle/>
                    <a:p>
                      <a:r>
                        <a:rPr sz="1650" b="1">
                          <a:solidFill>
                            <a:srgbClr val="FFFFFF"/>
                          </a:solidFill>
                          <a:latin typeface="Helvetica Neue"/>
                          <a:ea typeface="Helvetica Neue"/>
                          <a:cs typeface="Helvetica Neue"/>
                        </a:rPr>
                        <a:t>Expected business outcome</a:t>
                      </a:r>
                    </a:p>
                  </a:txBody>
                  <a:tcPr marL="91440" marR="91440" marT="45720" marB="45720">
                    <a:solidFill>
                      <a:srgbClr val="102D35"/>
                    </a:solidFill>
                  </a:tcPr>
                </a:tc>
                <a:tc>
                  <a:txBody>
                    <a:bodyPr/>
                    <a:lstStyle/>
                    <a:p>
                      <a:r>
                        <a:rPr sz="1650" b="1">
                          <a:solidFill>
                            <a:srgbClr val="FFFFFF"/>
                          </a:solidFill>
                          <a:latin typeface="Helvetica Neue"/>
                          <a:ea typeface="Helvetica Neue"/>
                          <a:cs typeface="Helvetica Neue"/>
                        </a:rPr>
                        <a:t>Evidence to track</a:t>
                      </a:r>
                    </a:p>
                  </a:txBody>
                  <a:tcPr marL="91440" marR="91440" marT="45720" marB="45720">
                    <a:solidFill>
                      <a:srgbClr val="102D35"/>
                    </a:solidFill>
                  </a:tcPr>
                </a:tc>
              </a:tr>
              <a:tr h="638175">
                <a:tc>
                  <a:txBody>
                    <a:bodyPr/>
                    <a:lstStyle/>
                    <a:p>
                      <a:r>
                        <a:rPr sz="1650" b="0">
                          <a:solidFill>
                            <a:srgbClr val="102D35"/>
                          </a:solidFill>
                          <a:latin typeface="Helvetica Neue"/>
                          <a:ea typeface="Helvetica Neue"/>
                          <a:cs typeface="Helvetica Neue"/>
                        </a:rPr>
                        <a:t>Managed service ownership</a:t>
                      </a:r>
                    </a:p>
                  </a:txBody>
                  <a:tcPr marL="91440" marR="91440" marT="45720" marB="45720">
                    <a:solidFill>
                      <a:srgbClr val="FFFFFF"/>
                    </a:solidFill>
                  </a:tcPr>
                </a:tc>
                <a:tc>
                  <a:txBody>
                    <a:bodyPr/>
                    <a:lstStyle/>
                    <a:p>
                      <a:r>
                        <a:rPr sz="1650" b="0">
                          <a:solidFill>
                            <a:srgbClr val="102D35"/>
                          </a:solidFill>
                          <a:latin typeface="Helvetica Neue"/>
                          <a:ea typeface="Helvetica Neue"/>
                          <a:cs typeface="Helvetica Neue"/>
                        </a:rPr>
                        <a:t>Transfer infrastructure operations and patching within agreed scope.</a:t>
                      </a:r>
                    </a:p>
                  </a:txBody>
                  <a:tcPr marL="91440" marR="91440" marT="45720" marB="45720">
                    <a:solidFill>
                      <a:srgbClr val="FFFFFF"/>
                    </a:solidFill>
                  </a:tcPr>
                </a:tc>
                <a:tc>
                  <a:txBody>
                    <a:bodyPr/>
                    <a:lstStyle/>
                    <a:p>
                      <a:r>
                        <a:rPr sz="1650" b="0">
                          <a:solidFill>
                            <a:srgbClr val="102D35"/>
                          </a:solidFill>
                          <a:latin typeface="Helvetica Neue"/>
                          <a:ea typeface="Helvetica Neue"/>
                          <a:cs typeface="Helvetica Neue"/>
                        </a:rPr>
                        <a:t>Internal operating hours, patch timeliness and SLA performance</a:t>
                      </a:r>
                    </a:p>
                  </a:txBody>
                  <a:tcPr marL="91440" marR="91440" marT="45720" marB="45720">
                    <a:solidFill>
                      <a:srgbClr val="FFFFFF"/>
                    </a:solidFill>
                  </a:tcPr>
                </a:tc>
              </a:tr>
              <a:tr h="638175">
                <a:tc>
                  <a:txBody>
                    <a:bodyPr/>
                    <a:lstStyle/>
                    <a:p>
                      <a:r>
                        <a:rPr sz="1650" b="0">
                          <a:solidFill>
                            <a:srgbClr val="102D35"/>
                          </a:solidFill>
                          <a:latin typeface="Helvetica Neue"/>
                          <a:ea typeface="Helvetica Neue"/>
                          <a:cs typeface="Helvetica Neue"/>
                        </a:rPr>
                        <a:t>Engineering capacity</a:t>
                      </a:r>
                    </a:p>
                  </a:txBody>
                  <a:tcPr marL="91440" marR="91440" marT="45720" marB="45720">
                    <a:solidFill>
                      <a:srgbClr val="FFFFFF"/>
                    </a:solidFill>
                  </a:tcPr>
                </a:tc>
                <a:tc>
                  <a:txBody>
                    <a:bodyPr/>
                    <a:lstStyle/>
                    <a:p>
                      <a:r>
                        <a:rPr sz="1650" b="0">
                          <a:solidFill>
                            <a:srgbClr val="102D35"/>
                          </a:solidFill>
                          <a:latin typeface="Helvetica Neue"/>
                          <a:ea typeface="Helvetica Neue"/>
                          <a:cs typeface="Helvetica Neue"/>
                        </a:rPr>
                        <a:t>Reduce custom maintenance around Spring and dependence on key people.</a:t>
                      </a:r>
                    </a:p>
                  </a:txBody>
                  <a:tcPr marL="91440" marR="91440" marT="45720" marB="45720">
                    <a:solidFill>
                      <a:srgbClr val="FFFFFF"/>
                    </a:solidFill>
                  </a:tcPr>
                </a:tc>
                <a:tc>
                  <a:txBody>
                    <a:bodyPr/>
                    <a:lstStyle/>
                    <a:p>
                      <a:r>
                        <a:rPr sz="1650" b="0">
                          <a:solidFill>
                            <a:srgbClr val="102D35"/>
                          </a:solidFill>
                          <a:latin typeface="Helvetica Neue"/>
                          <a:ea typeface="Helvetica Neue"/>
                          <a:cs typeface="Helvetica Neue"/>
                        </a:rPr>
                        <a:t>Maintenance backlog, engineering effort and support coverage</a:t>
                      </a:r>
                    </a:p>
                  </a:txBody>
                  <a:tcPr marL="91440" marR="91440" marT="45720" marB="45720">
                    <a:solidFill>
                      <a:srgbClr val="FFFFFF"/>
                    </a:solidFill>
                  </a:tcPr>
                </a:tc>
              </a:tr>
              <a:tr h="638175">
                <a:tc>
                  <a:txBody>
                    <a:bodyPr/>
                    <a:lstStyle/>
                    <a:p>
                      <a:r>
                        <a:rPr sz="1650" b="0">
                          <a:solidFill>
                            <a:srgbClr val="102D35"/>
                          </a:solidFill>
                          <a:latin typeface="Helvetica Neue"/>
                          <a:ea typeface="Helvetica Neue"/>
                          <a:cs typeface="Helvetica Neue"/>
                        </a:rPr>
                        <a:t>Delivery readiness</a:t>
                      </a:r>
                    </a:p>
                  </a:txBody>
                  <a:tcPr marL="91440" marR="91440" marT="45720" marB="45720">
                    <a:solidFill>
                      <a:srgbClr val="FFFFFF"/>
                    </a:solidFill>
                  </a:tcPr>
                </a:tc>
                <a:tc>
                  <a:txBody>
                    <a:bodyPr/>
                    <a:lstStyle/>
                    <a:p>
                      <a:r>
                        <a:rPr sz="1650" b="0">
                          <a:solidFill>
                            <a:srgbClr val="102D35"/>
                          </a:solidFill>
                          <a:latin typeface="Helvetica Neue"/>
                          <a:ea typeface="Helvetica Neue"/>
                          <a:cs typeface="Helvetica Neue"/>
                        </a:rPr>
                        <a:t>Reuse AI gateway controls and provider integrations for approved use cases.</a:t>
                      </a:r>
                    </a:p>
                  </a:txBody>
                  <a:tcPr marL="91440" marR="91440" marT="45720" marB="45720">
                    <a:solidFill>
                      <a:srgbClr val="FFFFFF"/>
                    </a:solidFill>
                  </a:tcPr>
                </a:tc>
                <a:tc>
                  <a:txBody>
                    <a:bodyPr/>
                    <a:lstStyle/>
                    <a:p>
                      <a:r>
                        <a:rPr sz="1650" b="0">
                          <a:solidFill>
                            <a:srgbClr val="102D35"/>
                          </a:solidFill>
                          <a:latin typeface="Helvetica Neue"/>
                          <a:ea typeface="Helvetica Neue"/>
                          <a:cs typeface="Helvetica Neue"/>
                        </a:rPr>
                        <a:t>Onboarding lead time and required use cases supported</a:t>
                      </a:r>
                    </a:p>
                  </a:txBody>
                  <a:tcPr marL="91440" marR="91440" marT="45720" marB="45720">
                    <a:solidFill>
                      <a:srgbClr val="FFFFFF"/>
                    </a:solidFill>
                  </a:tcPr>
                </a:tc>
              </a:tr>
              <a:tr h="638175">
                <a:tc>
                  <a:txBody>
                    <a:bodyPr/>
                    <a:lstStyle/>
                    <a:p>
                      <a:r>
                        <a:rPr sz="1650" b="0">
                          <a:solidFill>
                            <a:srgbClr val="102D35"/>
                          </a:solidFill>
                          <a:latin typeface="Helvetica Neue"/>
                          <a:ea typeface="Helvetica Neue"/>
                          <a:cs typeface="Helvetica Neue"/>
                        </a:rPr>
                        <a:t>Governance and resilience</a:t>
                      </a:r>
                    </a:p>
                  </a:txBody>
                  <a:tcPr marL="91440" marR="91440" marT="45720" marB="45720">
                    <a:solidFill>
                      <a:srgbClr val="FFFFFF"/>
                    </a:solidFill>
                  </a:tcPr>
                </a:tc>
                <a:tc>
                  <a:txBody>
                    <a:bodyPr/>
                    <a:lstStyle/>
                    <a:p>
                      <a:r>
                        <a:rPr sz="1650" b="0">
                          <a:solidFill>
                            <a:srgbClr val="102D35"/>
                          </a:solidFill>
                          <a:latin typeface="Helvetica Neue"/>
                          <a:ea typeface="Helvetica Neue"/>
                          <a:cs typeface="Helvetica Neue"/>
                        </a:rPr>
                        <a:t>Apply consistent access and usage controls, with clear service accountability.</a:t>
                      </a:r>
                    </a:p>
                  </a:txBody>
                  <a:tcPr marL="91440" marR="91440" marT="45720" marB="45720">
                    <a:solidFill>
                      <a:srgbClr val="FFFFFF"/>
                    </a:solidFill>
                  </a:tcPr>
                </a:tc>
                <a:tc>
                  <a:txBody>
                    <a:bodyPr/>
                    <a:lstStyle/>
                    <a:p>
                      <a:r>
                        <a:rPr sz="1650" b="0">
                          <a:solidFill>
                            <a:srgbClr val="102D35"/>
                          </a:solidFill>
                          <a:latin typeface="Helvetica Neue"/>
                          <a:ea typeface="Helvetica Neue"/>
                          <a:cs typeface="Helvetica Neue"/>
                        </a:rPr>
                        <a:t>Policy coverage, usage attribution and incident recovery</a:t>
                      </a:r>
                    </a:p>
                  </a:txBody>
                  <a:tcPr marL="91440" marR="91440" marT="45720" marB="45720">
                    <a:solidFill>
                      <a:srgbClr val="FFFFFF"/>
                    </a:solidFill>
                  </a:tcPr>
                </a:tc>
              </a:tr>
              <a:tr h="638175">
                <a:tc>
                  <a:txBody>
                    <a:bodyPr/>
                    <a:lstStyle/>
                    <a:p>
                      <a:r>
                        <a:rPr sz="1650" b="0">
                          <a:solidFill>
                            <a:srgbClr val="102D35"/>
                          </a:solidFill>
                          <a:latin typeface="Helvetica Neue"/>
                          <a:ea typeface="Helvetica Neue"/>
                          <a:cs typeface="Helvetica Neue"/>
                        </a:rPr>
                        <a:t>API discovery and reuse</a:t>
                      </a:r>
                    </a:p>
                  </a:txBody>
                  <a:tcPr marL="91440" marR="91440" marT="45720" marB="45720">
                    <a:solidFill>
                      <a:srgbClr val="FFFFFF"/>
                    </a:solidFill>
                  </a:tcPr>
                </a:tc>
                <a:tc>
                  <a:txBody>
                    <a:bodyPr/>
                    <a:lstStyle/>
                    <a:p>
                      <a:r>
                        <a:rPr sz="1650" b="0">
                          <a:solidFill>
                            <a:srgbClr val="102D35"/>
                          </a:solidFill>
                          <a:latin typeface="Helvetica Neue"/>
                          <a:ea typeface="Helvetica Neue"/>
                          <a:cs typeface="Helvetica Neue"/>
                        </a:rPr>
                        <a:t>Replace documentation tooling with a catalogue that exposes APIs and owners.</a:t>
                      </a:r>
                    </a:p>
                  </a:txBody>
                  <a:tcPr marL="91440" marR="91440" marT="45720" marB="45720">
                    <a:solidFill>
                      <a:srgbClr val="FFFFFF"/>
                    </a:solidFill>
                  </a:tcPr>
                </a:tc>
                <a:tc>
                  <a:txBody>
                    <a:bodyPr/>
                    <a:lstStyle/>
                    <a:p>
                      <a:r>
                        <a:rPr sz="1650" b="0">
                          <a:solidFill>
                            <a:srgbClr val="102D35"/>
                          </a:solidFill>
                          <a:latin typeface="Helvetica Neue"/>
                          <a:ea typeface="Helvetica Neue"/>
                          <a:cs typeface="Helvetica Neue"/>
                        </a:rPr>
                        <a:t>Tool retirement, catalogue adoption and API ownership coverage</a:t>
                      </a:r>
                    </a:p>
                  </a:txBody>
                  <a:tcPr marL="91440" marR="91440" marT="45720" marB="45720">
                    <a:solidFill>
                      <a:srgbClr val="FFFFFF"/>
                    </a:solidFill>
                  </a:tcPr>
                </a:tc>
              </a:tr>
            </a:tbl>
          </a:graphicData>
        </a:graphic>
      </p:graphicFrame>
      <p:sp>
        <p:nvSpPr>
          <p:cNvPr id="5" name="">
            <a:extLst xmlns:a="http://schemas.openxmlformats.org/drawingml/2006/main">
              <a:ext uri="{FF2B5EF4-FFF2-40B4-BE49-F238E27FC236}">
                <a16:creationId xmlns:a16="http://schemas.microsoft.com/office/drawing/2014/main" id="{1846ED10-959E-481C-93E7-827E00423CE6}"/>
              </a:ext>
            </a:extLst>
          </p:cNvPr>
          <p:cNvSpPr>
            <a:spLocks xmlns:a="http://schemas.openxmlformats.org/drawingml/2006/main" noGrp="1"/>
          </p:cNvSpPr>
          <p:nvPr/>
        </p:nvSpPr>
        <p:spPr>
          <a:xfrm xmlns:a="http://schemas.openxmlformats.org/drawingml/2006/main">
            <a:off x="571500" y="5905500"/>
            <a:ext cx="10810875" cy="6477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0">
                <a:solidFill>
                  <a:srgbClr val="52676C"/>
                </a:solidFill>
                <a:latin typeface="Helvetica Neue"/>
                <a:ea typeface="Helvetica Neue"/>
                <a:cs typeface="Helvetica Neue"/>
              </a:defRPr>
            </a:pPr>
            <a:r>
              <a:rPr sz="1575" b="0">
                <a:solidFill>
                  <a:srgbClr val="52676C"/>
                </a:solidFill>
                <a:latin typeface="Helvetica Neue"/>
                <a:ea typeface="Helvetica Neue"/>
                <a:cs typeface="Helvetica Neue"/>
              </a:rPr>
              <a:t>These are expected outcomes to validate. Staff time released is capacity unless spend or hiring actually falls. Historical development cost is sunk and does not count as a future saving.</a:t>
            </a:r>
          </a:p>
        </p:txBody>
      </p:sp>
    </p:spTree>
    <p:extLst>
      <p:ext uri="{BB962C8B-B14F-4D97-AF65-F5344CB8AC3E}">
        <p14:creationId xmlns:p14="http://schemas.microsoft.com/office/powerpoint/2010/main" val="459628168"/>
      </p:ext>
    </p:extLst>
  </p:cSld>
</p:sld>
</file>

<file path=ppt/slides/slide3.xml><?xml version="1.0" encoding="utf-8"?>
<p:sld xmlns:p="http://schemas.openxmlformats.org/presentationml/2006/main">
  <p:cSld>
    <p:bg>
      <p:bgPr>
        <a:solidFill xmlns:a="http://schemas.openxmlformats.org/drawingml/2006/main">
          <a:srgbClr val="F7F9F8"/>
        </a:solidFill>
      </p:bgPr>
    </p:bg>
    <p:spTree>
      <p:nvGrpSpPr>
        <p:cNvPr id="1" name=""/>
        <p:cNvGrpSpPr/>
        <p:nvPr/>
      </p:nvGrpSpPr>
      <p:grpSpPr>
        <a:xfrm xmlns:a="http://schemas.openxmlformats.org/drawingml/2006/main"/>
      </p:grpSpPr>
      <p:sp>
        <p:nvSpPr>
          <p:cNvPr id="18" name="">
            <a:extLst xmlns:a="http://schemas.openxmlformats.org/drawingml/2006/main">
              <a:ext uri="{FF2B5EF4-FFF2-40B4-BE49-F238E27FC236}">
                <a16:creationId xmlns:a16="http://schemas.microsoft.com/office/drawing/2014/main" id="{78099C9A-01F3-40A4-A5D4-54262CC6E734}"/>
              </a:ext>
            </a:extLst>
          </p:cNvPr>
          <p:cNvSpPr>
            <a:spLocks xmlns:a="http://schemas.openxmlformats.org/drawingml/2006/main" noGrp="1"/>
          </p:cNvSpPr>
          <p:nvPr/>
        </p:nvSpPr>
        <p:spPr>
          <a:xfrm xmlns:a="http://schemas.openxmlformats.org/drawingml/2006/main">
            <a:off x="571500" y="238125"/>
            <a:ext cx="10477500" cy="2857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1">
                <a:solidFill>
                  <a:srgbClr val="007E76"/>
                </a:solidFill>
                <a:latin typeface="Helvetica Neue"/>
                <a:ea typeface="Helvetica Neue"/>
                <a:cs typeface="Helvetica Neue"/>
              </a:defRPr>
            </a:pPr>
            <a:r>
              <a:rPr sz="1200" b="1">
                <a:solidFill>
                  <a:srgbClr val="007E76"/>
                </a:solidFill>
                <a:latin typeface="Helvetica Neue"/>
                <a:ea typeface="Helvetica Neue"/>
                <a:cs typeface="Helvetica Neue"/>
              </a:rPr>
              <a:t>COO PROPOSAL / MANAGED KONG API + AI</a:t>
            </a:r>
          </a:p>
        </p:txBody>
      </p:sp>
      <p:sp>
        <p:nvSpPr>
          <p:cNvPr id="2" name="">
            <a:extLst xmlns:a="http://schemas.openxmlformats.org/drawingml/2006/main">
              <a:ext uri="{FF2B5EF4-FFF2-40B4-BE49-F238E27FC236}">
                <a16:creationId xmlns:a16="http://schemas.microsoft.com/office/drawing/2014/main" id="{1A8A7AA1-CA1C-49AA-B9A2-5933C67CE52D}"/>
              </a:ext>
            </a:extLst>
          </p:cNvPr>
          <p:cNvSpPr>
            <a:spLocks xmlns:a="http://schemas.openxmlformats.org/drawingml/2006/main" noGrp="1"/>
          </p:cNvSpPr>
          <p:nvPr/>
        </p:nvSpPr>
        <p:spPr>
          <a:xfrm xmlns:a="http://schemas.openxmlformats.org/drawingml/2006/main">
            <a:off x="571500" y="704850"/>
            <a:ext cx="11049000" cy="1000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3150" b="1">
                <a:solidFill>
                  <a:srgbClr val="102D35"/>
                </a:solidFill>
                <a:latin typeface="Helvetica Neue"/>
                <a:ea typeface="Helvetica Neue"/>
                <a:cs typeface="Helvetica Neue"/>
              </a:defRPr>
            </a:pPr>
            <a:r>
              <a:rPr sz="3150" b="1">
                <a:solidFill>
                  <a:srgbClr val="102D35"/>
                </a:solidFill>
                <a:latin typeface="Helvetica Neue"/>
                <a:ea typeface="Helvetica Neue"/>
                <a:cs typeface="Helvetica Neue"/>
              </a:rPr>
              <a:t>Proposed decision: a phased commitment with clear evidence</a:t>
            </a:r>
          </a:p>
        </p:txBody>
      </p:sp>
      <p:sp>
        <p:nvSpPr>
          <p:cNvPr id="3" name="">
            <a:extLst xmlns:a="http://schemas.openxmlformats.org/drawingml/2006/main">
              <a:ext uri="{FF2B5EF4-FFF2-40B4-BE49-F238E27FC236}">
                <a16:creationId xmlns:a16="http://schemas.microsoft.com/office/drawing/2014/main" id="{26FC47F1-15C4-4DA9-9B25-638F2E1EDB97}"/>
              </a:ext>
            </a:extLst>
          </p:cNvPr>
          <p:cNvSpPr>
            <a:spLocks xmlns:a="http://schemas.openxmlformats.org/drawingml/2006/main" noGrp="1"/>
          </p:cNvSpPr>
          <p:nvPr/>
        </p:nvSpPr>
        <p:spPr>
          <a:xfrm xmlns:a="http://schemas.openxmlformats.org/drawingml/2006/main">
            <a:off x="11239500" y="6457950"/>
            <a:ext cx="381000" cy="2381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200" b="0">
                <a:solidFill>
                  <a:srgbClr val="52676C"/>
                </a:solidFill>
                <a:latin typeface="Helvetica Neue"/>
                <a:ea typeface="Helvetica Neue"/>
                <a:cs typeface="Helvetica Neue"/>
              </a:defRPr>
            </a:pPr>
            <a:r>
              <a:rPr sz="1200" b="0">
                <a:solidFill>
                  <a:srgbClr val="52676C"/>
                </a:solidFill>
                <a:latin typeface="Helvetica Neue"/>
                <a:ea typeface="Helvetica Neue"/>
                <a:cs typeface="Helvetica Neue"/>
              </a:rPr>
              <a:t>03</a:t>
            </a:r>
          </a:p>
        </p:txBody>
      </p:sp>
      <p:sp>
        <p:nvSpPr>
          <p:cNvPr id="4" name="">
            <a:extLst xmlns:a="http://schemas.openxmlformats.org/drawingml/2006/main">
              <a:ext uri="{FF2B5EF4-FFF2-40B4-BE49-F238E27FC236}">
                <a16:creationId xmlns:a16="http://schemas.microsoft.com/office/drawing/2014/main" id="{92B9FD71-43D1-4164-8488-2F0E7B16FBDE}"/>
              </a:ext>
            </a:extLst>
          </p:cNvPr>
          <p:cNvSpPr>
            <a:spLocks xmlns:a="http://schemas.openxmlformats.org/drawingml/2006/main" noGrp="1"/>
          </p:cNvSpPr>
          <p:nvPr/>
        </p:nvSpPr>
        <p:spPr>
          <a:xfrm xmlns:a="http://schemas.openxmlformats.org/drawingml/2006/main">
            <a:off x="571500" y="1933575"/>
            <a:ext cx="49530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E76"/>
                </a:solidFill>
                <a:latin typeface="Helvetica Neue"/>
                <a:ea typeface="Helvetica Neue"/>
                <a:cs typeface="Helvetica Neue"/>
              </a:defRPr>
            </a:pPr>
            <a:r>
              <a:rPr sz="2250" b="1">
                <a:solidFill>
                  <a:srgbClr val="007E76"/>
                </a:solidFill>
                <a:latin typeface="Helvetica Neue"/>
                <a:ea typeface="Helvetica Neue"/>
                <a:cs typeface="Helvetica Neue"/>
              </a:rPr>
              <a:t>Business justification</a:t>
            </a:r>
          </a:p>
        </p:txBody>
      </p:sp>
      <p:sp>
        <p:nvSpPr>
          <p:cNvPr id="5" name="">
            <a:extLst xmlns:a="http://schemas.openxmlformats.org/drawingml/2006/main">
              <a:ext uri="{FF2B5EF4-FFF2-40B4-BE49-F238E27FC236}">
                <a16:creationId xmlns:a16="http://schemas.microsoft.com/office/drawing/2014/main" id="{F4EA39FA-FCD0-44EE-9665-2E72EFD0704C}"/>
              </a:ext>
            </a:extLst>
          </p:cNvPr>
          <p:cNvSpPr>
            <a:spLocks xmlns:a="http://schemas.openxmlformats.org/drawingml/2006/main" noGrp="1"/>
          </p:cNvSpPr>
          <p:nvPr/>
        </p:nvSpPr>
        <p:spPr>
          <a:xfrm xmlns:a="http://schemas.openxmlformats.org/drawingml/2006/main">
            <a:off x="571500" y="2505075"/>
            <a:ext cx="4857750" cy="12001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100" b="0">
                <a:solidFill>
                  <a:srgbClr val="102D35"/>
                </a:solidFill>
                <a:latin typeface="Helvetica Neue"/>
                <a:ea typeface="Helvetica Neue"/>
                <a:cs typeface="Helvetica Neue"/>
              </a:defRPr>
            </a:pPr>
            <a:r>
              <a:rPr sz="2100" b="0">
                <a:solidFill>
                  <a:srgbClr val="102D35"/>
                </a:solidFill>
                <a:latin typeface="Helvetica Neue"/>
                <a:ea typeface="Helvetica Neue"/>
                <a:cs typeface="Helvetica Neue"/>
              </a:rPr>
              <a:t>The premium buys defined operating responsibility and additional API + AI capabilities. A positive financial return remains unproven.</a:t>
            </a:r>
          </a:p>
        </p:txBody>
      </p:sp>
      <p:sp>
        <p:nvSpPr>
          <p:cNvPr id="6" name="">
            <a:extLst xmlns:a="http://schemas.openxmlformats.org/drawingml/2006/main">
              <a:ext uri="{FF2B5EF4-FFF2-40B4-BE49-F238E27FC236}">
                <a16:creationId xmlns:a16="http://schemas.microsoft.com/office/drawing/2014/main" id="{F5DFADE2-45ED-49B7-9F0D-E7DEBBE889CB}"/>
              </a:ext>
            </a:extLst>
          </p:cNvPr>
          <p:cNvSpPr>
            <a:spLocks xmlns:a="http://schemas.openxmlformats.org/drawingml/2006/main" noGrp="1"/>
          </p:cNvSpPr>
          <p:nvPr/>
        </p:nvSpPr>
        <p:spPr>
          <a:xfrm xmlns:a="http://schemas.openxmlformats.org/drawingml/2006/main">
            <a:off x="571500" y="4019550"/>
            <a:ext cx="4953000" cy="4000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E76"/>
                </a:solidFill>
                <a:latin typeface="Helvetica Neue"/>
                <a:ea typeface="Helvetica Neue"/>
                <a:cs typeface="Helvetica Neue"/>
              </a:defRPr>
            </a:pPr>
            <a:r>
              <a:rPr sz="2250" b="1">
                <a:solidFill>
                  <a:srgbClr val="007E76"/>
                </a:solidFill>
                <a:latin typeface="Helvetica Neue"/>
                <a:ea typeface="Helvetica Neue"/>
                <a:cs typeface="Helvetica Neue"/>
              </a:rPr>
              <a:t>Scope and accountability</a:t>
            </a:r>
          </a:p>
        </p:txBody>
      </p:sp>
      <p:sp>
        <p:nvSpPr>
          <p:cNvPr id="7" name="">
            <a:extLst xmlns:a="http://schemas.openxmlformats.org/drawingml/2006/main">
              <a:ext uri="{FF2B5EF4-FFF2-40B4-BE49-F238E27FC236}">
                <a16:creationId xmlns:a16="http://schemas.microsoft.com/office/drawing/2014/main" id="{8C59DA50-E580-4E5A-85B8-27D7895825D3}"/>
              </a:ext>
            </a:extLst>
          </p:cNvPr>
          <p:cNvSpPr>
            <a:spLocks xmlns:a="http://schemas.openxmlformats.org/drawingml/2006/main" noGrp="1"/>
          </p:cNvSpPr>
          <p:nvPr/>
        </p:nvSpPr>
        <p:spPr>
          <a:xfrm xmlns:a="http://schemas.openxmlformats.org/drawingml/2006/main">
            <a:off x="571500" y="4533900"/>
            <a:ext cx="4953000" cy="145732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75" b="0">
                <a:solidFill>
                  <a:srgbClr val="102D35"/>
                </a:solidFill>
                <a:latin typeface="Helvetica Neue"/>
                <a:ea typeface="Helvetica Neue"/>
                <a:cs typeface="Helvetica Neue"/>
              </a:defRPr>
            </a:pPr>
            <a:r>
              <a:rPr sz="1875" b="0">
                <a:solidFill>
                  <a:srgbClr val="102D35"/>
                </a:solidFill>
                <a:latin typeface="Helvetica Neue"/>
                <a:ea typeface="Helvetica Neue"/>
                <a:cs typeface="Helvetica Neue"/>
              </a:rPr>
              <a:t>Kong: contracted infrastructure operations and patching.</a:t>
            </a:r>
          </a:p>
          <a:p xmlns:a="http://schemas.openxmlformats.org/drawingml/2006/main">
            <a:r>
              <a:t/>
            </a:r>
          </a:p>
          <a:p xmlns:a="http://schemas.openxmlformats.org/drawingml/2006/main">
            <a:pPr>
              <a:defRPr sz="1875" b="0">
                <a:solidFill>
                  <a:srgbClr val="102D35"/>
                </a:solidFill>
                <a:latin typeface="Helvetica Neue"/>
                <a:ea typeface="Helvetica Neue"/>
                <a:cs typeface="Helvetica Neue"/>
              </a:defRPr>
            </a:pPr>
            <a:r>
              <a:rPr sz="1875" b="0">
                <a:solidFill>
                  <a:srgbClr val="102D35"/>
                </a:solidFill>
                <a:latin typeface="Helvetica Neue"/>
                <a:ea typeface="Helvetica Neue"/>
                <a:cs typeface="Helvetica Neue"/>
              </a:rPr>
              <a:t>Internal teams: application integration, policies, service ownership and vendor oversight.</a:t>
            </a:r>
          </a:p>
        </p:txBody>
      </p:sp>
      <p:sp>
        <p:nvSpPr>
          <p:cNvPr id="8" name="">
            <a:extLst xmlns:a="http://schemas.openxmlformats.org/drawingml/2006/main">
              <a:ext uri="{FF2B5EF4-FFF2-40B4-BE49-F238E27FC236}">
                <a16:creationId xmlns:a16="http://schemas.microsoft.com/office/drawing/2014/main" id="{1EBA6838-9A68-4680-8E39-37F5C34D7637}"/>
              </a:ext>
            </a:extLst>
          </p:cNvPr>
          <p:cNvSpPr>
            <a:spLocks xmlns:a="http://schemas.openxmlformats.org/drawingml/2006/main" noGrp="1"/>
          </p:cNvSpPr>
          <p:nvPr/>
        </p:nvSpPr>
        <p:spPr>
          <a:xfrm xmlns:a="http://schemas.openxmlformats.org/drawingml/2006/main">
            <a:off x="6381750" y="1933575"/>
            <a:ext cx="5191125"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2250" b="1">
                <a:solidFill>
                  <a:srgbClr val="007E76"/>
                </a:solidFill>
                <a:latin typeface="Helvetica Neue"/>
                <a:ea typeface="Helvetica Neue"/>
                <a:cs typeface="Helvetica Neue"/>
              </a:defRPr>
            </a:pPr>
            <a:r>
              <a:rPr sz="2250" b="1">
                <a:solidFill>
                  <a:srgbClr val="007E76"/>
                </a:solidFill>
                <a:latin typeface="Helvetica Neue"/>
                <a:ea typeface="Helvetica Neue"/>
                <a:cs typeface="Helvetica Neue"/>
              </a:rPr>
              <a:t>Approval conditions</a:t>
            </a:r>
          </a:p>
        </p:txBody>
      </p:sp>
      <p:sp>
        <p:nvSpPr>
          <p:cNvPr id="9" name="">
            <a:extLst xmlns:a="http://schemas.openxmlformats.org/drawingml/2006/main">
              <a:ext uri="{FF2B5EF4-FFF2-40B4-BE49-F238E27FC236}">
                <a16:creationId xmlns:a16="http://schemas.microsoft.com/office/drawing/2014/main" id="{EBAFAAF7-03DC-421D-A9AC-390923A10255}"/>
              </a:ext>
            </a:extLst>
          </p:cNvPr>
          <p:cNvSpPr>
            <a:spLocks xmlns:a="http://schemas.openxmlformats.org/drawingml/2006/main" noGrp="1"/>
          </p:cNvSpPr>
          <p:nvPr/>
        </p:nvSpPr>
        <p:spPr>
          <a:xfrm xmlns:a="http://schemas.openxmlformats.org/drawingml/2006/main">
            <a:off x="6381750" y="2514600"/>
            <a:ext cx="5143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E76"/>
                </a:solidFill>
                <a:latin typeface="Helvetica Neue"/>
                <a:ea typeface="Helvetica Neue"/>
                <a:cs typeface="Helvetica Neue"/>
              </a:defRPr>
            </a:pPr>
            <a:r>
              <a:rPr sz="1800" b="1">
                <a:solidFill>
                  <a:srgbClr val="007E76"/>
                </a:solidFill>
                <a:latin typeface="Helvetica Neue"/>
                <a:ea typeface="Helvetica Neue"/>
                <a:cs typeface="Helvetica Neue"/>
              </a:rPr>
              <a:t>Commercial scope</a:t>
            </a:r>
          </a:p>
        </p:txBody>
      </p:sp>
      <p:sp>
        <p:nvSpPr>
          <p:cNvPr id="10" name="">
            <a:extLst xmlns:a="http://schemas.openxmlformats.org/drawingml/2006/main">
              <a:ext uri="{FF2B5EF4-FFF2-40B4-BE49-F238E27FC236}">
                <a16:creationId xmlns:a16="http://schemas.microsoft.com/office/drawing/2014/main" id="{DEC97045-9607-4FB4-924D-52B02646DCBA}"/>
              </a:ext>
            </a:extLst>
          </p:cNvPr>
          <p:cNvSpPr>
            <a:spLocks xmlns:a="http://schemas.openxmlformats.org/drawingml/2006/main" noGrp="1"/>
          </p:cNvSpPr>
          <p:nvPr/>
        </p:nvSpPr>
        <p:spPr>
          <a:xfrm xmlns:a="http://schemas.openxmlformats.org/drawingml/2006/main">
            <a:off x="6381750" y="2819400"/>
            <a:ext cx="5143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02D35"/>
                </a:solidFill>
                <a:latin typeface="Helvetica Neue"/>
                <a:ea typeface="Helvetica Neue"/>
                <a:cs typeface="Helvetica Neue"/>
              </a:defRPr>
            </a:pPr>
            <a:r>
              <a:rPr sz="1650" b="0">
                <a:solidFill>
                  <a:srgbClr val="102D35"/>
                </a:solidFill>
                <a:latin typeface="Helvetica Neue"/>
                <a:ea typeface="Helvetica Neue"/>
                <a:cs typeface="Helvetica Neue"/>
              </a:rPr>
              <a:t>Finance and Procurement confirm complete TCO, inclusions and transition costs.</a:t>
            </a:r>
          </a:p>
        </p:txBody>
      </p:sp>
      <p:sp>
        <p:nvSpPr>
          <p:cNvPr id="11" name="">
            <a:extLst xmlns:a="http://schemas.openxmlformats.org/drawingml/2006/main">
              <a:ext uri="{FF2B5EF4-FFF2-40B4-BE49-F238E27FC236}">
                <a16:creationId xmlns:a16="http://schemas.microsoft.com/office/drawing/2014/main" id="{EEC6FD83-0466-441F-8FEA-20AE66F3A05B}"/>
              </a:ext>
            </a:extLst>
          </p:cNvPr>
          <p:cNvSpPr>
            <a:spLocks xmlns:a="http://schemas.openxmlformats.org/drawingml/2006/main" noGrp="1"/>
          </p:cNvSpPr>
          <p:nvPr/>
        </p:nvSpPr>
        <p:spPr>
          <a:xfrm xmlns:a="http://schemas.openxmlformats.org/drawingml/2006/main">
            <a:off x="6381750" y="3371850"/>
            <a:ext cx="5143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E76"/>
                </a:solidFill>
                <a:latin typeface="Helvetica Neue"/>
                <a:ea typeface="Helvetica Neue"/>
                <a:cs typeface="Helvetica Neue"/>
              </a:defRPr>
            </a:pPr>
            <a:r>
              <a:rPr sz="1800" b="1">
                <a:solidFill>
                  <a:srgbClr val="007E76"/>
                </a:solidFill>
                <a:latin typeface="Helvetica Neue"/>
                <a:ea typeface="Helvetica Neue"/>
                <a:cs typeface="Helvetica Neue"/>
              </a:rPr>
              <a:t>Demonstrated outcomes</a:t>
            </a:r>
          </a:p>
        </p:txBody>
      </p:sp>
      <p:sp>
        <p:nvSpPr>
          <p:cNvPr id="12" name="">
            <a:extLst xmlns:a="http://schemas.openxmlformats.org/drawingml/2006/main">
              <a:ext uri="{FF2B5EF4-FFF2-40B4-BE49-F238E27FC236}">
                <a16:creationId xmlns:a16="http://schemas.microsoft.com/office/drawing/2014/main" id="{F05E84E4-6569-4C08-8247-5B2D542A864A}"/>
              </a:ext>
            </a:extLst>
          </p:cNvPr>
          <p:cNvSpPr>
            <a:spLocks xmlns:a="http://schemas.openxmlformats.org/drawingml/2006/main" noGrp="1"/>
          </p:cNvSpPr>
          <p:nvPr/>
        </p:nvSpPr>
        <p:spPr>
          <a:xfrm xmlns:a="http://schemas.openxmlformats.org/drawingml/2006/main">
            <a:off x="6381750" y="3676650"/>
            <a:ext cx="5143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02D35"/>
                </a:solidFill>
                <a:latin typeface="Helvetica Neue"/>
                <a:ea typeface="Helvetica Neue"/>
                <a:cs typeface="Helvetica Neue"/>
              </a:defRPr>
            </a:pPr>
            <a:r>
              <a:rPr sz="1650" b="0">
                <a:solidFill>
                  <a:srgbClr val="102D35"/>
                </a:solidFill>
                <a:latin typeface="Helvetica Neue"/>
                <a:ea typeface="Helvetica Neue"/>
                <a:cs typeface="Helvetica Neue"/>
              </a:rPr>
              <a:t>Platform and AI owners validate required use cases and baseline the measures on slide 2.</a:t>
            </a:r>
          </a:p>
        </p:txBody>
      </p:sp>
      <p:sp>
        <p:nvSpPr>
          <p:cNvPr id="13" name="">
            <a:extLst xmlns:a="http://schemas.openxmlformats.org/drawingml/2006/main">
              <a:ext uri="{FF2B5EF4-FFF2-40B4-BE49-F238E27FC236}">
                <a16:creationId xmlns:a16="http://schemas.microsoft.com/office/drawing/2014/main" id="{6212C5AC-04BB-4A76-A79A-42DF4DA7BB88}"/>
              </a:ext>
            </a:extLst>
          </p:cNvPr>
          <p:cNvSpPr>
            <a:spLocks xmlns:a="http://schemas.openxmlformats.org/drawingml/2006/main" noGrp="1"/>
          </p:cNvSpPr>
          <p:nvPr/>
        </p:nvSpPr>
        <p:spPr>
          <a:xfrm xmlns:a="http://schemas.openxmlformats.org/drawingml/2006/main">
            <a:off x="6381750" y="4229100"/>
            <a:ext cx="5143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E76"/>
                </a:solidFill>
                <a:latin typeface="Helvetica Neue"/>
                <a:ea typeface="Helvetica Neue"/>
                <a:cs typeface="Helvetica Neue"/>
              </a:defRPr>
            </a:pPr>
            <a:r>
              <a:rPr sz="1800" b="1">
                <a:solidFill>
                  <a:srgbClr val="007E76"/>
                </a:solidFill>
                <a:latin typeface="Helvetica Neue"/>
                <a:ea typeface="Helvetica Neue"/>
                <a:cs typeface="Helvetica Neue"/>
              </a:rPr>
              <a:t>Cost retirement</a:t>
            </a:r>
          </a:p>
        </p:txBody>
      </p:sp>
      <p:sp>
        <p:nvSpPr>
          <p:cNvPr id="14" name="">
            <a:extLst xmlns:a="http://schemas.openxmlformats.org/drawingml/2006/main">
              <a:ext uri="{FF2B5EF4-FFF2-40B4-BE49-F238E27FC236}">
                <a16:creationId xmlns:a16="http://schemas.microsoft.com/office/drawing/2014/main" id="{544D7B24-5169-4362-BAE4-293828CCFBA5}"/>
              </a:ext>
            </a:extLst>
          </p:cNvPr>
          <p:cNvSpPr>
            <a:spLocks xmlns:a="http://schemas.openxmlformats.org/drawingml/2006/main" noGrp="1"/>
          </p:cNvSpPr>
          <p:nvPr/>
        </p:nvSpPr>
        <p:spPr>
          <a:xfrm xmlns:a="http://schemas.openxmlformats.org/drawingml/2006/main">
            <a:off x="6381750" y="4533900"/>
            <a:ext cx="5143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02D35"/>
                </a:solidFill>
                <a:latin typeface="Helvetica Neue"/>
                <a:ea typeface="Helvetica Neue"/>
                <a:cs typeface="Helvetica Neue"/>
              </a:defRPr>
            </a:pPr>
            <a:r>
              <a:rPr sz="1650" b="0">
                <a:solidFill>
                  <a:srgbClr val="102D35"/>
                </a:solidFill>
                <a:latin typeface="Helvetica Neue"/>
                <a:ea typeface="Helvetica Neue"/>
                <a:cs typeface="Helvetica Neue"/>
              </a:rPr>
              <a:t>Documentation owner confirms replacement coverage and a date to stop the $35k annual cost.</a:t>
            </a:r>
          </a:p>
        </p:txBody>
      </p:sp>
      <p:sp>
        <p:nvSpPr>
          <p:cNvPr id="15" name="">
            <a:extLst xmlns:a="http://schemas.openxmlformats.org/drawingml/2006/main">
              <a:ext uri="{FF2B5EF4-FFF2-40B4-BE49-F238E27FC236}">
                <a16:creationId xmlns:a16="http://schemas.microsoft.com/office/drawing/2014/main" id="{8763F64E-DE42-4173-9BD4-AAC3AEA18236}"/>
              </a:ext>
            </a:extLst>
          </p:cNvPr>
          <p:cNvSpPr>
            <a:spLocks xmlns:a="http://schemas.openxmlformats.org/drawingml/2006/main" noGrp="1"/>
          </p:cNvSpPr>
          <p:nvPr/>
        </p:nvSpPr>
        <p:spPr>
          <a:xfrm xmlns:a="http://schemas.openxmlformats.org/drawingml/2006/main">
            <a:off x="6381750" y="5086350"/>
            <a:ext cx="5143500" cy="295275"/>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800" b="1">
                <a:solidFill>
                  <a:srgbClr val="007E76"/>
                </a:solidFill>
                <a:latin typeface="Helvetica Neue"/>
                <a:ea typeface="Helvetica Neue"/>
                <a:cs typeface="Helvetica Neue"/>
              </a:defRPr>
            </a:pPr>
            <a:r>
              <a:rPr sz="1800" b="1">
                <a:solidFill>
                  <a:srgbClr val="007E76"/>
                </a:solidFill>
                <a:latin typeface="Helvetica Neue"/>
                <a:ea typeface="Helvetica Neue"/>
                <a:cs typeface="Helvetica Neue"/>
              </a:rPr>
              <a:t>Alternative comparison</a:t>
            </a:r>
          </a:p>
        </p:txBody>
      </p:sp>
      <p:sp>
        <p:nvSpPr>
          <p:cNvPr id="16" name="">
            <a:extLst xmlns:a="http://schemas.openxmlformats.org/drawingml/2006/main">
              <a:ext uri="{FF2B5EF4-FFF2-40B4-BE49-F238E27FC236}">
                <a16:creationId xmlns:a16="http://schemas.microsoft.com/office/drawing/2014/main" id="{CE4BD33B-C743-452A-BDF8-506FAEE34140}"/>
              </a:ext>
            </a:extLst>
          </p:cNvPr>
          <p:cNvSpPr>
            <a:spLocks xmlns:a="http://schemas.openxmlformats.org/drawingml/2006/main" noGrp="1"/>
          </p:cNvSpPr>
          <p:nvPr/>
        </p:nvSpPr>
        <p:spPr>
          <a:xfrm xmlns:a="http://schemas.openxmlformats.org/drawingml/2006/main">
            <a:off x="6381750" y="5391150"/>
            <a:ext cx="5143500" cy="55245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650" b="0">
                <a:solidFill>
                  <a:srgbClr val="102D35"/>
                </a:solidFill>
                <a:latin typeface="Helvetica Neue"/>
                <a:ea typeface="Helvetica Neue"/>
                <a:cs typeface="Helvetica Neue"/>
              </a:defRPr>
            </a:pPr>
            <a:r>
              <a:rPr sz="1650" b="0">
                <a:solidFill>
                  <a:srgbClr val="102D35"/>
                </a:solidFill>
                <a:latin typeface="Helvetica Neue"/>
                <a:ea typeface="Helvetica Neue"/>
                <a:cs typeface="Helvetica Neue"/>
              </a:rPr>
              <a:t>Compare full Kong adoption with Spring plus AI gateway, including an AI-first rollout.</a:t>
            </a:r>
          </a:p>
        </p:txBody>
      </p:sp>
      <p:sp>
        <p:nvSpPr>
          <p:cNvPr id="17" name="">
            <a:extLst xmlns:a="http://schemas.openxmlformats.org/drawingml/2006/main">
              <a:ext uri="{FF2B5EF4-FFF2-40B4-BE49-F238E27FC236}">
                <a16:creationId xmlns:a16="http://schemas.microsoft.com/office/drawing/2014/main" id="{F15C6E5F-4AAB-48AE-8EED-3DEE34B68C2A}"/>
              </a:ext>
            </a:extLst>
          </p:cNvPr>
          <p:cNvSpPr>
            <a:spLocks xmlns:a="http://schemas.openxmlformats.org/drawingml/2006/main" noGrp="1"/>
          </p:cNvSpPr>
          <p:nvPr/>
        </p:nvSpPr>
        <p:spPr>
          <a:xfrm xmlns:a="http://schemas.openxmlformats.org/drawingml/2006/main">
            <a:off x="571500" y="6219825"/>
            <a:ext cx="10477500" cy="419100"/>
          </a:xfrm>
          <a:prstGeom xmlns:a="http://schemas.openxmlformats.org/drawingml/2006/main" prst="rect">
            <a:avLst/>
          </a:prstGeom>
          <a:noFill xmlns:a="http://schemas.openxmlformats.org/drawingml/2006/main"/>
          <a:ln xmlns:a="http://schemas.openxmlformats.org/drawingml/2006/main" w="0">
            <a:noFill/>
          </a:ln>
        </p:spPr>
        <p:txBody>
          <a:bodyPr xmlns:a="http://schemas.openxmlformats.org/drawingml/2006/main">
            <a:noAutofit/>
          </a:bodyPr>
          <a:lstStyle xmlns:a="http://schemas.openxmlformats.org/drawingml/2006/main"/>
          <a:p xmlns:a="http://schemas.openxmlformats.org/drawingml/2006/main">
            <a:pPr>
              <a:defRPr sz="1575" b="1">
                <a:solidFill>
                  <a:srgbClr val="102D35"/>
                </a:solidFill>
                <a:latin typeface="Helvetica Neue"/>
                <a:ea typeface="Helvetica Neue"/>
                <a:cs typeface="Helvetica Neue"/>
              </a:defRPr>
            </a:pPr>
            <a:r>
              <a:rPr sz="1575" b="1">
                <a:solidFill>
                  <a:srgbClr val="102D35"/>
                </a:solidFill>
                <a:latin typeface="Helvetica Neue"/>
                <a:ea typeface="Helvetica Neue"/>
                <a:cs typeface="Helvetica Neue"/>
              </a:rPr>
              <a:t>COO approval basis: required capability fit, accountable service delivery and an acceptable premium supported by pilot evidence.</a:t>
            </a:r>
          </a:p>
        </p:txBody>
      </p:sp>
    </p:spTree>
    <p:extLst>
      <p:ext uri="{BB962C8B-B14F-4D97-AF65-F5344CB8AC3E}">
        <p14:creationId xmlns:p14="http://schemas.microsoft.com/office/powerpoint/2010/main" val="1447947417"/>
      </p:ext>
    </p:extLst>
  </p:cSld>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
      <a:majorFont>
        <a:latin typeface="Aptos"/>
        <a:ea typeface=""/>
        <a:cs typeface=""/>
      </a:majorFont>
      <a:minorFont>
        <a:latin typeface="Aptos"/>
        <a:ea typeface=""/>
        <a:cs typeface=""/>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theme>
</file>

<file path=docProps/app.xml><?xml version="1.0" encoding="utf-8"?>
<ap:Properties xmlns:ap="http://schemas.openxmlformats.org/officeDocument/2006/extended-properties">
  <ap:Application>Walnut Exporter</ap:Application>
  <ap:PresentationFormat>Converted Presentation</ap:PresentationFormat>
  <ap:Slides>0</ap:Slides>
  <ap:Notes>0</ap:Notes>
  <ap:HiddenSlides>0</ap:HiddenSlides>
  <ap:SharedDoc>false</ap:SharedDoc>
  <ap:DocSecurity>0</ap:DocSecurity>
</ap:Properties>
</file>

<file path=docProps/core.xml><?xml version="1.0" encoding="utf-8"?>
<coreProperties xmlns:dc="http://purl.org/dc/elements/1.1/" xmlns:dcterms="http://purl.org/dc/terms/" xmlns:xsi="http://www.w3.org/2001/XMLSchema-instance" xmlns="http://schemas.openxmlformats.org/package/2006/metadata/core-properties">
  <dc:creator>Walnut Exporter</dc:creator>
  <lastModifiedBy>Walnut Exporter</lastModifiedBy>
  <dc:title>Presentation</dc:title>
  <dcterms:created xsi:type="dcterms:W3CDTF">2026-09-28T17:13:16.4970000Z</dcterms:created>
  <dcterms:modified xsi:type="dcterms:W3CDTF">2026-09-28T17:13:16.4970000Z</dcterms:modified>
</coreProperties>
</file>